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937"/>
                </a:solidFill>
                <a:latin typeface="Calibri"/>
              </a:defRPr>
            </a:pPr>
            <a:r>
              <a:rPr sz="1200" b="0" i="0" u="none" strike="noStrike">
                <a:solidFill>
                  <a:srgbClr val="1F2937"/>
                </a:solidFill>
                <a:latin typeface="Calibri"/>
              </a:rPr>
              <a:t>Golden set: 22 test cases — % pass qua từng phiên bản</a:t>
            </a:r>
          </a:p>
        </c:rich>
      </c:tx>
      <c:layout/>
      <c:overlay val="0"/>
    </c:title>
    <c:autoTitleDeleted val="0"/>
    <c:plotArea>
      <c:layout/>
      <c:barChart>
        <c:barDir val="col"/>
        <c:grouping val="clustered"/>
        <c:varyColors val="0"/>
        <c:ser>
          <c:idx val="0"/>
          <c:order val="0"/>
          <c:tx>
            <c:strRef>
              <c:f>Sheet1!$B$1</c:f>
              <c:strCache>
                <c:ptCount val="1"/>
                <c:pt idx="0">
                  <c:v>Tỷ lệ pass / 22 test cases</c:v>
                </c:pt>
              </c:strCache>
            </c:strRef>
          </c:tx>
          <c:spPr>
            <a:solidFill>
              <a:srgbClr val="0F6F6F"/>
            </a:solidFill>
            <a:effectLst/>
          </c:spPr>
          <c:invertIfNegative val="0"/>
          <c:dLbls>
            <c:numFmt formatCode="0.0&quot;%&quot;" sourceLinked="0"/>
            <c:txPr>
              <a:bodyPr/>
              <a:lstStyle/>
              <a:p>
                <a:pPr>
                  <a:defRPr b="0" i="0" strike="noStrike" sz="1200" u="none">
                    <a:solidFill>
                      <a:srgbClr val="1F2937"/>
                    </a:solidFill>
                    <a:latin typeface="Arial"/>
                  </a:defRPr>
                </a:pPr>
              </a:p>
            </c:txPr>
            <c:showLegendKey val="0"/>
            <c:showVal val="1"/>
            <c:showCatName val="0"/>
            <c:showSerName val="0"/>
            <c:showPercent val="0"/>
            <c:showBubbleSize val="0"/>
            <c:showLeaderLines val="0"/>
          </c:dLbls>
          <c:cat>
            <c:multiLvlStrRef>
              <c:f>Sheet1!$A$2:$A$4</c:f>
              <c:multiLvlStrCache>
                <c:ptCount val="3"/>
                <c:lvl>
                  <c:pt idx="0">
                    <c:v>Baseline</c:v>
                  </c:pt>
                  <c:pt idx="1">
                    <c:v>System Prompt +
Intent Regex</c:v>
                  </c:pt>
                  <c:pt idx="2">
                    <c:v>Intent Routing +
Multi-agent</c:v>
                  </c:pt>
                </c:lvl>
              </c:multiLvlStrCache>
            </c:multiLvlStrRef>
          </c:cat>
          <c:val>
            <c:numRef>
              <c:f>Sheet1!$B$2:$B$4</c:f>
              <c:numCache>
                <c:formatCode>General</c:formatCode>
                <c:ptCount val="3"/>
                <c:pt idx="0">
                  <c:v>0</c:v>
                </c:pt>
                <c:pt idx="1">
                  <c:v>59.1</c:v>
                </c:pt>
                <c:pt idx="2">
                  <c:v>95.5</c:v>
                </c:pt>
              </c:numCache>
            </c:numRef>
          </c:val>
        </c:ser>
        <c:dLbls>
          <c:numFmt formatCode="0.0&quot;%&quot;" sourceLinked="0"/>
          <c:txPr>
            <a:bodyPr/>
            <a:lstStyle/>
            <a:p>
              <a:pPr>
                <a:defRPr b="0" i="0" strike="noStrike" sz="1200" u="none">
                  <a:solidFill>
                    <a:srgbClr val="1F2937"/>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max val="11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dùng mục tiêu là học viên tự ôn tập một mình. Job cần làm: thảo luận và giải đáp thắc mắc để nắm vững kiến thức. Khảo sát 31 học viên cho thấy ba pain chính — slide dài, tutor khó hiểu, thiếu tương tác — và 93,5% muốn VLearn tương tác hơn. Quote minh hoạ đúng việc học viên phải tua lại video vì thiếu tương tác.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sánh ba track dựa trên evidence khảo sát. D2 chỉ xử lý slide dài nhưng học viên vẫn thụ động; D3 vẫn là hội thoại một chiều. D1 trực tiếp giải quyết pain lớn nhất — thiếu tương tác — nên được chọn. Mức độ automation là Augment: AI hỗ trợ tư duy, không làm thay học viên.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Học viên hỏi qua Intent Router, hệ thống chọn agent và thứ tự phản hồi, truy xuất slide/transcript rồi trả lời kèm citation. Ba agent: Minh gợi mở, Thảo hỏi ngược kiểu Socratic, TS. Tuấn chốt kiến thức chuẩn xác. Demo chuẩn: hỏi về Attention, kỳ vọng Minh gợi mở rồi TS. Tuấn chốt có citation. Demo khó: học viên xin đáp án bài tập, kỳ vọng Thảo từ chối làm thay mà chỉ đưa hint — AI gợi ý và chốt có căn cứ, học viên vẫn tự suy nghĩ và quyết định.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Golden set 22 test case bao phủ 7 nhóm tình huống. Baseline 0%, sau khi thêm System Prompt và Intent Regex đạt 59,1%, sau Intent Routing kết hợp Multi-agent Orchestration đạt 95,5%, vượt ngưỡng 85%, không vi phạm prompt injection và không bịa kiến thức. Vẫn còn một failure — D1-S01 — agent tự nhận thiếu tài liệu nhưng vẫn chêm kiến thức ngoài nguồn với citation sai. 95,5% là kết quả trên bộ eval hiện tại; groundedness và citation vẫn cần review thủ công thêm.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người thử: Trường Giang phản biện Minh và mất 20-30 giây mới nhận ra TS. Tuấn là người chốt kiến thức — nhóm giữ ngộ nhận có kiểm soát của Minh nhưng sẽ thêm nhãn chỉ rõ vai TS. Tuấn. Văn Hùng thấy phản hồi từ chối câu ngoài phạm vi đúng nhưng dài, và muốn citation rõ hơn — nhóm sẽ rút gọn phản hồi và làm nổi citation. Thanh Phong bị kẹt với câu hỏi mơ hồ, thích khi được hỏi lại theo dạng lựa chọn — nhóm sẽ thêm câu hỏi làm rõ dạng lựa chọn. Đây là dữ liệu từ nhật ký validation nội bộ, chưa phải khảo sát diện rộng.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ưu tiên nếu có thêm một tuần: sửa groundedness của D1-S01 bằng cách chỉ trả lời từ nội dung truy xuất được và dừng khi thiếu căn cứ; nâng cấp evaluator để chấm riêng từng tiêu chí và review thủ công các case đang mặc định PASS; và user validation với ít nhất 2 người ngoài nhóm, giao task theo outcome và ghi lại quote nguyên văn. Bài học lớn nhất: intent routing tốt thôi chưa đủ, câu trả lời phải đúng ý định, đúng vai và truy ngược được về nguồn.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7315200" cy="274320"/>
          </a:xfrm>
          <a:prstGeom prst="rect">
            <a:avLst/>
          </a:prstGeom>
          <a:noFill/>
          <a:ln/>
        </p:spPr>
        <p:txBody>
          <a:bodyPr wrap="square" lIns="0" tIns="0" rIns="0" bIns="0" rtlCol="0" anchor="ctr"/>
          <a:lstStyle/>
          <a:p>
            <a:pPr indent="0" marL="0">
              <a:buNone/>
            </a:pPr>
            <a:r>
              <a:rPr lang="en-US" sz="1100" b="1" spc="100" kern="0" dirty="0">
                <a:solidFill>
                  <a:srgbClr val="0F6F6F"/>
                </a:solidFill>
                <a:latin typeface="Calibri" pitchFamily="34" charset="0"/>
                <a:ea typeface="Calibri" pitchFamily="34" charset="-122"/>
                <a:cs typeface="Calibri" pitchFamily="34" charset="-120"/>
              </a:rPr>
              <a:t>45 GIÂY</a:t>
            </a:r>
            <a:endParaRPr lang="en-US" sz="1100" dirty="0"/>
          </a:p>
        </p:txBody>
      </p:sp>
      <p:sp>
        <p:nvSpPr>
          <p:cNvPr id="3" name="Text 1"/>
          <p:cNvSpPr txBox="1"/>
          <p:nvPr/>
        </p:nvSpPr>
        <p:spPr>
          <a:xfrm>
            <a:off x="502920" y="566928"/>
            <a:ext cx="9720072" cy="603504"/>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Người dùng &amp; Job-To-Be-Done</a:t>
            </a:r>
            <a:endParaRPr lang="en-US" sz="2800" dirty="0"/>
          </a:p>
        </p:txBody>
      </p:sp>
      <p:sp>
        <p:nvSpPr>
          <p:cNvPr id="4" name="Text 2"/>
          <p:cNvSpPr txBox="1"/>
          <p:nvPr/>
        </p:nvSpPr>
        <p:spPr>
          <a:xfrm>
            <a:off x="8942832" y="292608"/>
            <a:ext cx="2743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TwoTwo · Track D1 · VLearn</a:t>
            </a:r>
            <a:endParaRPr lang="en-US" sz="1000" dirty="0"/>
          </a:p>
        </p:txBody>
      </p:sp>
      <p:sp>
        <p:nvSpPr>
          <p:cNvPr id="5" name="Text 3"/>
          <p:cNvSpPr txBox="1"/>
          <p:nvPr/>
        </p:nvSpPr>
        <p:spPr>
          <a:xfrm>
            <a:off x="10771632" y="6446520"/>
            <a:ext cx="9144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 / 6</a:t>
            </a:r>
            <a:endParaRPr lang="en-US" sz="1000" dirty="0"/>
          </a:p>
        </p:txBody>
      </p:sp>
      <p:sp>
        <p:nvSpPr>
          <p:cNvPr id="6" name="Shape 4"/>
          <p:cNvSpPr/>
          <p:nvPr/>
        </p:nvSpPr>
        <p:spPr>
          <a:xfrm>
            <a:off x="502920" y="1417320"/>
            <a:ext cx="5394960" cy="1417320"/>
          </a:xfrm>
          <a:prstGeom prst="roundRect">
            <a:avLst>
              <a:gd name="adj" fmla="val 3871"/>
            </a:avLst>
          </a:prstGeom>
          <a:solidFill>
            <a:srgbClr val="F4F5F7"/>
          </a:solidFill>
          <a:ln w="9525">
            <a:solidFill>
              <a:srgbClr val="D9DCE1"/>
            </a:solidFill>
            <a:prstDash val="solid"/>
          </a:ln>
        </p:spPr>
      </p:sp>
      <p:sp>
        <p:nvSpPr>
          <p:cNvPr id="7" name="Text 5"/>
          <p:cNvSpPr txBox="1"/>
          <p:nvPr/>
        </p:nvSpPr>
        <p:spPr>
          <a:xfrm>
            <a:off x="758952" y="1581912"/>
            <a:ext cx="4882896" cy="45720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Người dùng: </a:t>
            </a:r>
            <a:pPr indent="0" marL="0">
              <a:buNone/>
            </a:pPr>
            <a:r>
              <a:rPr lang="en-US" sz="1400" dirty="0">
                <a:solidFill>
                  <a:srgbClr val="1F2937"/>
                </a:solidFill>
                <a:latin typeface="Calibri" pitchFamily="34" charset="0"/>
                <a:ea typeface="Calibri" pitchFamily="34" charset="-122"/>
                <a:cs typeface="Calibri" pitchFamily="34" charset="-120"/>
              </a:rPr>
              <a:t>Học viên tự ôn tập bài giảng một mình.</a:t>
            </a:r>
            <a:endParaRPr lang="en-US" sz="1400" dirty="0"/>
          </a:p>
        </p:txBody>
      </p:sp>
      <p:sp>
        <p:nvSpPr>
          <p:cNvPr id="8" name="Text 6"/>
          <p:cNvSpPr txBox="1"/>
          <p:nvPr/>
        </p:nvSpPr>
        <p:spPr>
          <a:xfrm>
            <a:off x="758952" y="2039112"/>
            <a:ext cx="4882896" cy="685800"/>
          </a:xfrm>
          <a:prstGeom prst="rect">
            <a:avLst/>
          </a:prstGeom>
          <a:noFill/>
          <a:ln/>
        </p:spPr>
        <p:txBody>
          <a:bodyPr wrap="square" lIns="0" tIns="0" rIns="0" bIns="0" rtlCol="0" anchor="t"/>
          <a:lstStyle/>
          <a:p>
            <a:pPr indent="0" marL="0">
              <a:lnSpc>
                <a:spcPct val="108000"/>
              </a:lnSpc>
              <a:buNone/>
            </a:pPr>
            <a:r>
              <a:rPr lang="en-US" sz="1350" b="1" dirty="0">
                <a:solidFill>
                  <a:srgbClr val="1F2937"/>
                </a:solidFill>
                <a:latin typeface="Calibri" pitchFamily="34" charset="0"/>
                <a:ea typeface="Calibri" pitchFamily="34" charset="-122"/>
                <a:cs typeface="Calibri" pitchFamily="34" charset="-120"/>
              </a:rPr>
              <a:t>JTBD: </a:t>
            </a:r>
            <a:pPr indent="0" marL="0">
              <a:lnSpc>
                <a:spcPct val="108000"/>
              </a:lnSpc>
              <a:buNone/>
            </a:pPr>
            <a:r>
              <a:rPr lang="en-US" sz="1350" i="1" dirty="0">
                <a:solidFill>
                  <a:srgbClr val="1F2937"/>
                </a:solidFill>
                <a:latin typeface="Calibri" pitchFamily="34" charset="0"/>
                <a:ea typeface="Calibri" pitchFamily="34" charset="-122"/>
                <a:cs typeface="Calibri" pitchFamily="34" charset="-120"/>
              </a:rPr>
              <a:t>“Thảo luận và giải đáp thắc mắc về tài liệu học tập để nắm vững kiến thức.”</a:t>
            </a:r>
            <a:endParaRPr lang="en-US" sz="1350" dirty="0"/>
          </a:p>
        </p:txBody>
      </p:sp>
      <p:sp>
        <p:nvSpPr>
          <p:cNvPr id="9" name="Shape 7"/>
          <p:cNvSpPr/>
          <p:nvPr/>
        </p:nvSpPr>
        <p:spPr>
          <a:xfrm>
            <a:off x="502920" y="3108960"/>
            <a:ext cx="5394960" cy="1417320"/>
          </a:xfrm>
          <a:prstGeom prst="roundRect">
            <a:avLst>
              <a:gd name="adj" fmla="val 3871"/>
            </a:avLst>
          </a:prstGeom>
          <a:solidFill>
            <a:srgbClr val="E4F0EF"/>
          </a:solidFill>
          <a:ln w="9525">
            <a:solidFill>
              <a:srgbClr val="0F6F6F"/>
            </a:solidFill>
            <a:prstDash val="solid"/>
          </a:ln>
        </p:spPr>
      </p:sp>
      <p:sp>
        <p:nvSpPr>
          <p:cNvPr id="10" name="Text 8"/>
          <p:cNvSpPr txBox="1"/>
          <p:nvPr/>
        </p:nvSpPr>
        <p:spPr>
          <a:xfrm>
            <a:off x="758952" y="3291840"/>
            <a:ext cx="4882896" cy="914400"/>
          </a:xfrm>
          <a:prstGeom prst="rect">
            <a:avLst/>
          </a:prstGeom>
          <a:noFill/>
          <a:ln/>
        </p:spPr>
        <p:txBody>
          <a:bodyPr wrap="square" lIns="0" tIns="0" rIns="0" bIns="0" rtlCol="0" anchor="t"/>
          <a:lstStyle/>
          <a:p>
            <a:pPr indent="0" marL="0">
              <a:lnSpc>
                <a:spcPct val="115000"/>
              </a:lnSpc>
              <a:buNone/>
            </a:pPr>
            <a:r>
              <a:rPr lang="en-US" sz="1500" i="1" dirty="0">
                <a:solidFill>
                  <a:srgbClr val="1F2937"/>
                </a:solidFill>
                <a:latin typeface="Cambria" pitchFamily="34" charset="0"/>
                <a:ea typeface="Cambria" pitchFamily="34" charset="-122"/>
                <a:cs typeface="Cambria" pitchFamily="34" charset="-120"/>
              </a:rPr>
              <a:t>“Nhiều khi phải tua video lại nhiều lần để hiểu rõ một vấn đề, web cũng thiếu tính tương tác.”</a:t>
            </a:r>
            <a:endParaRPr lang="en-US" sz="1500" dirty="0"/>
          </a:p>
        </p:txBody>
      </p:sp>
      <p:sp>
        <p:nvSpPr>
          <p:cNvPr id="11" name="Text 9"/>
          <p:cNvSpPr txBox="1"/>
          <p:nvPr/>
        </p:nvSpPr>
        <p:spPr>
          <a:xfrm>
            <a:off x="758952" y="4133088"/>
            <a:ext cx="4882896"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 Khảo sát học viên sử dụng VLearn</a:t>
            </a:r>
            <a:endParaRPr lang="en-US" sz="1100" dirty="0"/>
          </a:p>
        </p:txBody>
      </p:sp>
      <p:sp>
        <p:nvSpPr>
          <p:cNvPr id="12" name="Shape 10"/>
          <p:cNvSpPr/>
          <p:nvPr/>
        </p:nvSpPr>
        <p:spPr>
          <a:xfrm>
            <a:off x="6263640" y="1417320"/>
            <a:ext cx="2574036" cy="1371600"/>
          </a:xfrm>
          <a:prstGeom prst="roundRect">
            <a:avLst>
              <a:gd name="adj" fmla="val 4000"/>
            </a:avLst>
          </a:prstGeom>
          <a:solidFill>
            <a:srgbClr val="F4F5F7"/>
          </a:solidFill>
          <a:ln w="9525">
            <a:solidFill>
              <a:srgbClr val="D9DCE1"/>
            </a:solidFill>
            <a:prstDash val="solid"/>
          </a:ln>
        </p:spPr>
      </p:sp>
      <p:sp>
        <p:nvSpPr>
          <p:cNvPr id="13" name="Text 11"/>
          <p:cNvSpPr txBox="1"/>
          <p:nvPr/>
        </p:nvSpPr>
        <p:spPr>
          <a:xfrm>
            <a:off x="6446520" y="1527048"/>
            <a:ext cx="2208276" cy="548640"/>
          </a:xfrm>
          <a:prstGeom prst="rect">
            <a:avLst/>
          </a:prstGeom>
          <a:noFill/>
          <a:ln/>
        </p:spPr>
        <p:txBody>
          <a:bodyPr wrap="square" lIns="0" tIns="0" rIns="0" bIns="0" rtlCol="0" anchor="ctr"/>
          <a:lstStyle/>
          <a:p>
            <a:pPr indent="0" marL="0">
              <a:buNone/>
            </a:pPr>
            <a:r>
              <a:rPr lang="en-US" sz="3000" b="1" dirty="0">
                <a:solidFill>
                  <a:srgbClr val="0F6F6F"/>
                </a:solidFill>
                <a:latin typeface="Cambria" pitchFamily="34" charset="0"/>
                <a:ea typeface="Cambria" pitchFamily="34" charset="-122"/>
                <a:cs typeface="Cambria" pitchFamily="34" charset="-120"/>
              </a:rPr>
              <a:t>58,1%</a:t>
            </a:r>
            <a:endParaRPr lang="en-US" sz="3000" dirty="0"/>
          </a:p>
        </p:txBody>
      </p:sp>
      <p:sp>
        <p:nvSpPr>
          <p:cNvPr id="14" name="Text 12"/>
          <p:cNvSpPr txBox="1"/>
          <p:nvPr/>
        </p:nvSpPr>
        <p:spPr>
          <a:xfrm>
            <a:off x="6446520" y="2130552"/>
            <a:ext cx="2208276" cy="548640"/>
          </a:xfrm>
          <a:prstGeom prst="rect">
            <a:avLst/>
          </a:prstGeom>
          <a:noFill/>
          <a:ln/>
        </p:spPr>
        <p:txBody>
          <a:bodyPr wrap="square" lIns="0" tIns="0" rIns="0" bIns="0" rtlCol="0" anchor="t"/>
          <a:lstStyle/>
          <a:p>
            <a:pPr indent="0" marL="0">
              <a:lnSpc>
                <a:spcPct val="105000"/>
              </a:lnSpc>
              <a:buNone/>
            </a:pPr>
            <a:r>
              <a:rPr lang="en-US" sz="1150" dirty="0">
                <a:solidFill>
                  <a:srgbClr val="1F2937"/>
                </a:solidFill>
                <a:latin typeface="Calibri" pitchFamily="34" charset="0"/>
                <a:ea typeface="Calibri" pitchFamily="34" charset="-122"/>
                <a:cs typeface="Calibri" pitchFamily="34" charset="-120"/>
              </a:rPr>
              <a:t>18/31  ·  cho rằng slide quá dài</a:t>
            </a:r>
            <a:endParaRPr lang="en-US" sz="1150" dirty="0"/>
          </a:p>
        </p:txBody>
      </p:sp>
      <p:sp>
        <p:nvSpPr>
          <p:cNvPr id="15" name="Shape 13"/>
          <p:cNvSpPr/>
          <p:nvPr/>
        </p:nvSpPr>
        <p:spPr>
          <a:xfrm>
            <a:off x="9111996" y="1417320"/>
            <a:ext cx="2574036" cy="1371600"/>
          </a:xfrm>
          <a:prstGeom prst="roundRect">
            <a:avLst>
              <a:gd name="adj" fmla="val 4000"/>
            </a:avLst>
          </a:prstGeom>
          <a:solidFill>
            <a:srgbClr val="F4F5F7"/>
          </a:solidFill>
          <a:ln w="9525">
            <a:solidFill>
              <a:srgbClr val="D9DCE1"/>
            </a:solidFill>
            <a:prstDash val="solid"/>
          </a:ln>
        </p:spPr>
      </p:sp>
      <p:sp>
        <p:nvSpPr>
          <p:cNvPr id="16" name="Text 14"/>
          <p:cNvSpPr txBox="1"/>
          <p:nvPr/>
        </p:nvSpPr>
        <p:spPr>
          <a:xfrm>
            <a:off x="9294876" y="1527048"/>
            <a:ext cx="2208276" cy="548640"/>
          </a:xfrm>
          <a:prstGeom prst="rect">
            <a:avLst/>
          </a:prstGeom>
          <a:noFill/>
          <a:ln/>
        </p:spPr>
        <p:txBody>
          <a:bodyPr wrap="square" lIns="0" tIns="0" rIns="0" bIns="0" rtlCol="0" anchor="ctr"/>
          <a:lstStyle/>
          <a:p>
            <a:pPr indent="0" marL="0">
              <a:buNone/>
            </a:pPr>
            <a:r>
              <a:rPr lang="en-US" sz="3000" b="1" dirty="0">
                <a:solidFill>
                  <a:srgbClr val="0F6F6F"/>
                </a:solidFill>
                <a:latin typeface="Cambria" pitchFamily="34" charset="0"/>
                <a:ea typeface="Cambria" pitchFamily="34" charset="-122"/>
                <a:cs typeface="Cambria" pitchFamily="34" charset="-120"/>
              </a:rPr>
              <a:t>51,6%</a:t>
            </a:r>
            <a:endParaRPr lang="en-US" sz="3000" dirty="0"/>
          </a:p>
        </p:txBody>
      </p:sp>
      <p:sp>
        <p:nvSpPr>
          <p:cNvPr id="17" name="Text 15"/>
          <p:cNvSpPr txBox="1"/>
          <p:nvPr/>
        </p:nvSpPr>
        <p:spPr>
          <a:xfrm>
            <a:off x="9294876" y="2130552"/>
            <a:ext cx="2208276" cy="548640"/>
          </a:xfrm>
          <a:prstGeom prst="rect">
            <a:avLst/>
          </a:prstGeom>
          <a:noFill/>
          <a:ln/>
        </p:spPr>
        <p:txBody>
          <a:bodyPr wrap="square" lIns="0" tIns="0" rIns="0" bIns="0" rtlCol="0" anchor="t"/>
          <a:lstStyle/>
          <a:p>
            <a:pPr indent="0" marL="0">
              <a:lnSpc>
                <a:spcPct val="105000"/>
              </a:lnSpc>
              <a:buNone/>
            </a:pPr>
            <a:r>
              <a:rPr lang="en-US" sz="1150" dirty="0">
                <a:solidFill>
                  <a:srgbClr val="1F2937"/>
                </a:solidFill>
                <a:latin typeface="Calibri" pitchFamily="34" charset="0"/>
                <a:ea typeface="Calibri" pitchFamily="34" charset="-122"/>
                <a:cs typeface="Calibri" pitchFamily="34" charset="-120"/>
              </a:rPr>
              <a:t>16/31  ·  thấy tutor trả lời quá khó hiểu</a:t>
            </a:r>
            <a:endParaRPr lang="en-US" sz="1150" dirty="0"/>
          </a:p>
        </p:txBody>
      </p:sp>
      <p:sp>
        <p:nvSpPr>
          <p:cNvPr id="18" name="Shape 16"/>
          <p:cNvSpPr/>
          <p:nvPr/>
        </p:nvSpPr>
        <p:spPr>
          <a:xfrm>
            <a:off x="6263640" y="3063240"/>
            <a:ext cx="2574036" cy="1371600"/>
          </a:xfrm>
          <a:prstGeom prst="roundRect">
            <a:avLst>
              <a:gd name="adj" fmla="val 4000"/>
            </a:avLst>
          </a:prstGeom>
          <a:solidFill>
            <a:srgbClr val="F4F5F7"/>
          </a:solidFill>
          <a:ln w="9525">
            <a:solidFill>
              <a:srgbClr val="D9DCE1"/>
            </a:solidFill>
            <a:prstDash val="solid"/>
          </a:ln>
        </p:spPr>
      </p:sp>
      <p:sp>
        <p:nvSpPr>
          <p:cNvPr id="19" name="Text 17"/>
          <p:cNvSpPr txBox="1"/>
          <p:nvPr/>
        </p:nvSpPr>
        <p:spPr>
          <a:xfrm>
            <a:off x="6446520" y="3172968"/>
            <a:ext cx="2208276" cy="548640"/>
          </a:xfrm>
          <a:prstGeom prst="rect">
            <a:avLst/>
          </a:prstGeom>
          <a:noFill/>
          <a:ln/>
        </p:spPr>
        <p:txBody>
          <a:bodyPr wrap="square" lIns="0" tIns="0" rIns="0" bIns="0" rtlCol="0" anchor="ctr"/>
          <a:lstStyle/>
          <a:p>
            <a:pPr indent="0" marL="0">
              <a:buNone/>
            </a:pPr>
            <a:r>
              <a:rPr lang="en-US" sz="3000" b="1" dirty="0">
                <a:solidFill>
                  <a:srgbClr val="0F6F6F"/>
                </a:solidFill>
                <a:latin typeface="Cambria" pitchFamily="34" charset="0"/>
                <a:ea typeface="Cambria" pitchFamily="34" charset="-122"/>
                <a:cs typeface="Cambria" pitchFamily="34" charset="-120"/>
              </a:rPr>
              <a:t>48,4%</a:t>
            </a:r>
            <a:endParaRPr lang="en-US" sz="3000" dirty="0"/>
          </a:p>
        </p:txBody>
      </p:sp>
      <p:sp>
        <p:nvSpPr>
          <p:cNvPr id="20" name="Text 18"/>
          <p:cNvSpPr txBox="1"/>
          <p:nvPr/>
        </p:nvSpPr>
        <p:spPr>
          <a:xfrm>
            <a:off x="6446520" y="3776472"/>
            <a:ext cx="2208276" cy="548640"/>
          </a:xfrm>
          <a:prstGeom prst="rect">
            <a:avLst/>
          </a:prstGeom>
          <a:noFill/>
          <a:ln/>
        </p:spPr>
        <p:txBody>
          <a:bodyPr wrap="square" lIns="0" tIns="0" rIns="0" bIns="0" rtlCol="0" anchor="t"/>
          <a:lstStyle/>
          <a:p>
            <a:pPr indent="0" marL="0">
              <a:lnSpc>
                <a:spcPct val="105000"/>
              </a:lnSpc>
              <a:buNone/>
            </a:pPr>
            <a:r>
              <a:rPr lang="en-US" sz="1150" dirty="0">
                <a:solidFill>
                  <a:srgbClr val="1F2937"/>
                </a:solidFill>
                <a:latin typeface="Calibri" pitchFamily="34" charset="0"/>
                <a:ea typeface="Calibri" pitchFamily="34" charset="-122"/>
                <a:cs typeface="Calibri" pitchFamily="34" charset="-120"/>
              </a:rPr>
              <a:t>15/31  ·  cho rằng thiếu sự tương tác</a:t>
            </a:r>
            <a:endParaRPr lang="en-US" sz="1150" dirty="0"/>
          </a:p>
        </p:txBody>
      </p:sp>
      <p:sp>
        <p:nvSpPr>
          <p:cNvPr id="21" name="Shape 19"/>
          <p:cNvSpPr/>
          <p:nvPr/>
        </p:nvSpPr>
        <p:spPr>
          <a:xfrm>
            <a:off x="9111996" y="3063240"/>
            <a:ext cx="2574036" cy="1371600"/>
          </a:xfrm>
          <a:prstGeom prst="roundRect">
            <a:avLst>
              <a:gd name="adj" fmla="val 4000"/>
            </a:avLst>
          </a:prstGeom>
          <a:solidFill>
            <a:srgbClr val="0F6F6F"/>
          </a:solidFill>
          <a:ln w="9525">
            <a:solidFill>
              <a:srgbClr val="0F6F6F"/>
            </a:solidFill>
            <a:prstDash val="solid"/>
          </a:ln>
        </p:spPr>
      </p:sp>
      <p:sp>
        <p:nvSpPr>
          <p:cNvPr id="22" name="Text 20"/>
          <p:cNvSpPr txBox="1"/>
          <p:nvPr/>
        </p:nvSpPr>
        <p:spPr>
          <a:xfrm>
            <a:off x="9294876" y="3172968"/>
            <a:ext cx="2208276"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93,5%</a:t>
            </a:r>
            <a:endParaRPr lang="en-US" sz="3000" dirty="0"/>
          </a:p>
        </p:txBody>
      </p:sp>
      <p:sp>
        <p:nvSpPr>
          <p:cNvPr id="23" name="Text 21"/>
          <p:cNvSpPr txBox="1"/>
          <p:nvPr/>
        </p:nvSpPr>
        <p:spPr>
          <a:xfrm>
            <a:off x="9294876" y="3776472"/>
            <a:ext cx="2208276" cy="548640"/>
          </a:xfrm>
          <a:prstGeom prst="rect">
            <a:avLst/>
          </a:prstGeom>
          <a:noFill/>
          <a:ln/>
        </p:spPr>
        <p:txBody>
          <a:bodyPr wrap="square" lIns="0" tIns="0" rIns="0" bIns="0" rtlCol="0" anchor="t"/>
          <a:lstStyle/>
          <a:p>
            <a:pPr indent="0" marL="0">
              <a:lnSpc>
                <a:spcPct val="105000"/>
              </a:lnSpc>
              <a:buNone/>
            </a:pPr>
            <a:r>
              <a:rPr lang="en-US" sz="1150" dirty="0">
                <a:solidFill>
                  <a:srgbClr val="FFFFFF"/>
                </a:solidFill>
                <a:latin typeface="Calibri" pitchFamily="34" charset="0"/>
                <a:ea typeface="Calibri" pitchFamily="34" charset="-122"/>
                <a:cs typeface="Calibri" pitchFamily="34" charset="-120"/>
              </a:rPr>
              <a:t>29/31  ·  muốn VLearn có thêm tính tương tác</a:t>
            </a:r>
            <a:endParaRPr lang="en-US" sz="1150" dirty="0"/>
          </a:p>
        </p:txBody>
      </p:sp>
      <p:sp>
        <p:nvSpPr>
          <p:cNvPr id="24" name="Text 22"/>
          <p:cNvSpPr txBox="1"/>
          <p:nvPr/>
        </p:nvSpPr>
        <p:spPr>
          <a:xfrm>
            <a:off x="502920" y="6400800"/>
            <a:ext cx="10268712" cy="292608"/>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Nguồn: Khảo sát học viên sử dụng VLearn.xlsx, n = 31.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7315200" cy="274320"/>
          </a:xfrm>
          <a:prstGeom prst="rect">
            <a:avLst/>
          </a:prstGeom>
          <a:noFill/>
          <a:ln/>
        </p:spPr>
        <p:txBody>
          <a:bodyPr wrap="square" lIns="0" tIns="0" rIns="0" bIns="0" rtlCol="0" anchor="ctr"/>
          <a:lstStyle/>
          <a:p>
            <a:pPr indent="0" marL="0">
              <a:buNone/>
            </a:pPr>
            <a:r>
              <a:rPr lang="en-US" sz="1100" b="1" spc="100" kern="0" dirty="0">
                <a:solidFill>
                  <a:srgbClr val="0F6F6F"/>
                </a:solidFill>
                <a:latin typeface="Calibri" pitchFamily="34" charset="0"/>
                <a:ea typeface="Calibri" pitchFamily="34" charset="-122"/>
                <a:cs typeface="Calibri" pitchFamily="34" charset="-120"/>
              </a:rPr>
              <a:t>45 GIÂY</a:t>
            </a:r>
            <a:endParaRPr lang="en-US" sz="1100" dirty="0"/>
          </a:p>
        </p:txBody>
      </p:sp>
      <p:sp>
        <p:nvSpPr>
          <p:cNvPr id="3" name="Text 1"/>
          <p:cNvSpPr txBox="1"/>
          <p:nvPr/>
        </p:nvSpPr>
        <p:spPr>
          <a:xfrm>
            <a:off x="502920" y="566928"/>
            <a:ext cx="9720072" cy="603504"/>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Vì sao chọn D1</a:t>
            </a:r>
            <a:endParaRPr lang="en-US" sz="2800" dirty="0"/>
          </a:p>
        </p:txBody>
      </p:sp>
      <p:sp>
        <p:nvSpPr>
          <p:cNvPr id="4" name="Text 2"/>
          <p:cNvSpPr txBox="1"/>
          <p:nvPr/>
        </p:nvSpPr>
        <p:spPr>
          <a:xfrm>
            <a:off x="8942832" y="292608"/>
            <a:ext cx="2743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TwoTwo · Track D1 · VLearn</a:t>
            </a:r>
            <a:endParaRPr lang="en-US" sz="1000" dirty="0"/>
          </a:p>
        </p:txBody>
      </p:sp>
      <p:sp>
        <p:nvSpPr>
          <p:cNvPr id="5" name="Text 3"/>
          <p:cNvSpPr txBox="1"/>
          <p:nvPr/>
        </p:nvSpPr>
        <p:spPr>
          <a:xfrm>
            <a:off x="10771632" y="6446520"/>
            <a:ext cx="9144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2 / 6</a:t>
            </a:r>
            <a:endParaRPr lang="en-US" sz="1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11183112" cy="914400"/>
        </p:xfrm>
        <a:graphic>
          <a:graphicData uri="http://schemas.openxmlformats.org/drawingml/2006/table">
            <a:tbl>
              <a:tblPr/>
              <a:tblGrid>
                <a:gridCol w="2880360"/>
                <a:gridCol w="3246120"/>
                <a:gridCol w="3429000"/>
                <a:gridCol w="1417320"/>
              </a:tblGrid>
              <a:tr h="45720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Track</a:t>
                      </a:r>
                      <a:endParaRPr lang="en-US" sz="1250" dirty="0">
                        <a:latin typeface="Calibri" charset="0"/>
                        <a:ea typeface="Calibri" charset="0"/>
                        <a:cs typeface="Calibri" charset="0"/>
                      </a:endParaRPr>
                    </a:p>
                  </a:txBody>
                  <a:tcPr marL="91440" marR="91440" marT="45720" marB="45720"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1F2937"/>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Evidence (khảo sát n=31)</a:t>
                      </a:r>
                      <a:endParaRPr lang="en-US" sz="1250" dirty="0">
                        <a:latin typeface="Calibri" charset="0"/>
                        <a:ea typeface="Calibri" charset="0"/>
                        <a:cs typeface="Calibri" charset="0"/>
                      </a:endParaRPr>
                    </a:p>
                  </a:txBody>
                  <a:tcPr marL="91440" marR="91440" marT="45720" marB="45720"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1F2937"/>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Nhận định</a:t>
                      </a:r>
                      <a:endParaRPr lang="en-US" sz="1250" dirty="0">
                        <a:latin typeface="Calibri" charset="0"/>
                        <a:ea typeface="Calibri" charset="0"/>
                        <a:cs typeface="Calibri" charset="0"/>
                      </a:endParaRPr>
                    </a:p>
                  </a:txBody>
                  <a:tcPr marL="91440" marR="91440" marT="45720" marB="45720"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1F2937"/>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Quyết định</a:t>
                      </a:r>
                      <a:endParaRPr lang="en-US" sz="1250" dirty="0">
                        <a:latin typeface="Calibri" charset="0"/>
                        <a:ea typeface="Calibri" charset="0"/>
                        <a:cs typeface="Calibri" charset="0"/>
                      </a:endParaRPr>
                    </a:p>
                  </a:txBody>
                  <a:tcPr marL="91440" marR="91440" marT="45720" marB="45720"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1F2937"/>
                    </a:solidFill>
                  </a:tcPr>
                </a:tc>
              </a:tr>
              <a:tr h="868680">
                <a:tc>
                  <a:txBody>
                    <a:bodyPr/>
                    <a:lstStyle/>
                    <a:p>
                      <a:pPr indent="0" marL="0">
                        <a:buNone/>
                      </a:pPr>
                      <a:r>
                        <a:rPr lang="en-US" sz="1250" b="1" dirty="0">
                          <a:solidFill>
                            <a:srgbClr val="1F2937"/>
                          </a:solidFill>
                          <a:latin typeface="Calibri" pitchFamily="34" charset="0"/>
                          <a:ea typeface="Calibri" pitchFamily="34" charset="-122"/>
                          <a:cs typeface="Calibri" pitchFamily="34" charset="-120"/>
                        </a:rPr>
                        <a:t>D1 — Lớp học mô phỏng đa tác tử</a:t>
                      </a:r>
                      <a:endParaRPr lang="en-US" sz="1250" dirty="0">
                        <a:latin typeface="Calibri" charset="0"/>
                        <a:ea typeface="Calibri" charset="0"/>
                        <a:cs typeface="Calibri" charset="0"/>
                      </a:endParaRPr>
                    </a:p>
                  </a:txBody>
                  <a:tcPr marL="91440" marR="91440" marT="45720" marB="45720"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E4F0EF"/>
                    </a:solidFill>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15/31 (48,4%) thiếu tương tác; 29/31 (93,5%) muốn tăng tương tác</a:t>
                      </a:r>
                      <a:endParaRPr lang="en-US" sz="1250" dirty="0">
                        <a:latin typeface="Calibri" charset="0"/>
                        <a:ea typeface="Calibri" charset="0"/>
                        <a:cs typeface="Calibri" charset="0"/>
                      </a:endParaRPr>
                    </a:p>
                  </a:txBody>
                  <a:tcPr marL="91440" marR="91440" marT="45720" marB="45720"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E4F0EF"/>
                    </a:solidFill>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Tạo hỏi đáp, phản biện và học đa chiều</a:t>
                      </a:r>
                      <a:endParaRPr lang="en-US" sz="1250" dirty="0">
                        <a:latin typeface="Calibri" charset="0"/>
                        <a:ea typeface="Calibri" charset="0"/>
                        <a:cs typeface="Calibri" charset="0"/>
                      </a:endParaRPr>
                    </a:p>
                  </a:txBody>
                  <a:tcPr marL="91440" marR="91440" marT="45720" marB="45720"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E4F0EF"/>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CHỌN</a:t>
                      </a:r>
                      <a:endParaRPr lang="en-US" sz="1250" dirty="0">
                        <a:latin typeface="Calibri" charset="0"/>
                        <a:ea typeface="Calibri" charset="0"/>
                        <a:cs typeface="Calibri" charset="0"/>
                      </a:endParaRPr>
                    </a:p>
                  </a:txBody>
                  <a:tcPr marL="91440" marR="91440" marT="45720" marB="45720"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0F6F6F"/>
                    </a:solidFill>
                  </a:tcPr>
                </a:tc>
              </a:tr>
              <a:tr h="777240">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D2 — Tóm tắt bài giảng</a:t>
                      </a:r>
                      <a:endParaRPr lang="en-US" sz="1250" dirty="0">
                        <a:latin typeface="Calibri" charset="0"/>
                        <a:ea typeface="Calibri" charset="0"/>
                        <a:cs typeface="Calibri" charset="0"/>
                      </a:endParaRPr>
                    </a:p>
                  </a:txBody>
                  <a:tcPr marL="91440" marR="91440" marT="45720" marB="45720"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4F5F7"/>
                    </a:solidFill>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18/31 (58,1%) thấy slide dài</a:t>
                      </a:r>
                      <a:endParaRPr lang="en-US" sz="1250" dirty="0">
                        <a:latin typeface="Calibri" charset="0"/>
                        <a:ea typeface="Calibri" charset="0"/>
                        <a:cs typeface="Calibri" charset="0"/>
                      </a:endParaRPr>
                    </a:p>
                  </a:txBody>
                  <a:tcPr marL="91440" marR="91440" marT="45720" marB="45720"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4F5F7"/>
                    </a:solidFill>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Giải quyết đọc dài nhưng vẫn khiến học viên thụ động</a:t>
                      </a:r>
                      <a:endParaRPr lang="en-US" sz="1250" dirty="0">
                        <a:latin typeface="Calibri" charset="0"/>
                        <a:ea typeface="Calibri" charset="0"/>
                        <a:cs typeface="Calibri" charset="0"/>
                      </a:endParaRPr>
                    </a:p>
                  </a:txBody>
                  <a:tcPr marL="91440" marR="91440" marT="45720" marB="45720"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4F5F7"/>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LOẠI</a:t>
                      </a:r>
                      <a:endParaRPr lang="en-US" sz="1250" dirty="0">
                        <a:latin typeface="Calibri" charset="0"/>
                        <a:ea typeface="Calibri" charset="0"/>
                        <a:cs typeface="Calibri" charset="0"/>
                      </a:endParaRPr>
                    </a:p>
                  </a:txBody>
                  <a:tcPr marL="91440" marR="91440" marT="45720" marB="45720"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9CA3AF"/>
                    </a:solidFill>
                  </a:tcPr>
                </a:tc>
              </a:tr>
              <a:tr h="777240">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D3 — Chatbot thuật ngữ 1-1</a:t>
                      </a:r>
                      <a:endParaRPr lang="en-US" sz="1250" dirty="0">
                        <a:latin typeface="Calibri" charset="0"/>
                        <a:ea typeface="Calibri" charset="0"/>
                        <a:cs typeface="Calibri" charset="0"/>
                      </a:endParaRPr>
                    </a:p>
                  </a:txBody>
                  <a:tcPr marL="91440" marR="91440" marT="45720" marB="45720"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4F5F7"/>
                    </a:solidFill>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16/31 (51,6%) tutor khó hiểu</a:t>
                      </a:r>
                      <a:endParaRPr lang="en-US" sz="1250" dirty="0">
                        <a:latin typeface="Calibri" charset="0"/>
                        <a:ea typeface="Calibri" charset="0"/>
                        <a:cs typeface="Calibri" charset="0"/>
                      </a:endParaRPr>
                    </a:p>
                  </a:txBody>
                  <a:tcPr marL="91440" marR="91440" marT="45720" marB="45720"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4F5F7"/>
                    </a:solidFill>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Vẫn là hội thoại một chiều, thiếu phản biện</a:t>
                      </a:r>
                      <a:endParaRPr lang="en-US" sz="1250" dirty="0">
                        <a:latin typeface="Calibri" charset="0"/>
                        <a:ea typeface="Calibri" charset="0"/>
                        <a:cs typeface="Calibri" charset="0"/>
                      </a:endParaRPr>
                    </a:p>
                  </a:txBody>
                  <a:tcPr marL="91440" marR="91440" marT="45720" marB="45720"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4F5F7"/>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LOẠI</a:t>
                      </a:r>
                      <a:endParaRPr lang="en-US" sz="1250" dirty="0">
                        <a:latin typeface="Calibri" charset="0"/>
                        <a:ea typeface="Calibri" charset="0"/>
                        <a:cs typeface="Calibri" charset="0"/>
                      </a:endParaRPr>
                    </a:p>
                  </a:txBody>
                  <a:tcPr marL="91440" marR="91440" marT="45720" marB="45720"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9CA3AF"/>
                    </a:solidFill>
                  </a:tcPr>
                </a:tc>
              </a:tr>
            </a:tbl>
          </a:graphicData>
        </a:graphic>
      </p:graphicFrame>
      <p:sp>
        <p:nvSpPr>
          <p:cNvPr id="7" name="Shape 4"/>
          <p:cNvSpPr/>
          <p:nvPr/>
        </p:nvSpPr>
        <p:spPr>
          <a:xfrm>
            <a:off x="502920" y="4709160"/>
            <a:ext cx="11183112" cy="1234440"/>
          </a:xfrm>
          <a:prstGeom prst="roundRect">
            <a:avLst>
              <a:gd name="adj" fmla="val 4444"/>
            </a:avLst>
          </a:prstGeom>
          <a:solidFill>
            <a:srgbClr val="F4F5F7"/>
          </a:solidFill>
          <a:ln w="9525">
            <a:solidFill>
              <a:srgbClr val="D9DCE1"/>
            </a:solidFill>
            <a:prstDash val="solid"/>
          </a:ln>
        </p:spPr>
      </p:sp>
      <p:sp>
        <p:nvSpPr>
          <p:cNvPr id="8" name="Text 5"/>
          <p:cNvSpPr txBox="1"/>
          <p:nvPr/>
        </p:nvSpPr>
        <p:spPr>
          <a:xfrm>
            <a:off x="777240" y="4855464"/>
            <a:ext cx="10634472" cy="411480"/>
          </a:xfrm>
          <a:prstGeom prst="rect">
            <a:avLst/>
          </a:prstGeom>
          <a:noFill/>
          <a:ln/>
        </p:spPr>
        <p:txBody>
          <a:bodyPr wrap="square" lIns="0" tIns="0" rIns="0" bIns="0" rtlCol="0" anchor="ctr"/>
          <a:lstStyle/>
          <a:p>
            <a:pPr indent="0" marL="0">
              <a:buNone/>
            </a:pPr>
            <a:r>
              <a:rPr lang="en-US" sz="1400" b="1" dirty="0">
                <a:solidFill>
                  <a:srgbClr val="0F6F6F"/>
                </a:solidFill>
                <a:latin typeface="Calibri" pitchFamily="34" charset="0"/>
                <a:ea typeface="Calibri" pitchFamily="34" charset="-122"/>
                <a:cs typeface="Calibri" pitchFamily="34" charset="-120"/>
              </a:rPr>
              <a:t>Kết luận:  </a:t>
            </a:r>
            <a:pPr indent="0" marL="0">
              <a:buNone/>
            </a:pPr>
            <a:r>
              <a:rPr lang="en-US" sz="1400" dirty="0">
                <a:solidFill>
                  <a:srgbClr val="1F2937"/>
                </a:solidFill>
                <a:latin typeface="Calibri" pitchFamily="34" charset="0"/>
                <a:ea typeface="Calibri" pitchFamily="34" charset="-122"/>
                <a:cs typeface="Calibri" pitchFamily="34" charset="-120"/>
              </a:rPr>
              <a:t>D1 giải quyết pain lớn nhất là thiếu tương tác.</a:t>
            </a:r>
            <a:endParaRPr lang="en-US" sz="1400" dirty="0"/>
          </a:p>
        </p:txBody>
      </p:sp>
      <p:sp>
        <p:nvSpPr>
          <p:cNvPr id="9" name="Text 6"/>
          <p:cNvSpPr txBox="1"/>
          <p:nvPr/>
        </p:nvSpPr>
        <p:spPr>
          <a:xfrm>
            <a:off x="777240" y="5330952"/>
            <a:ext cx="10634472" cy="411480"/>
          </a:xfrm>
          <a:prstGeom prst="rect">
            <a:avLst/>
          </a:prstGeom>
          <a:noFill/>
          <a:ln/>
        </p:spPr>
        <p:txBody>
          <a:bodyPr wrap="square" lIns="0" tIns="0" rIns="0" bIns="0" rtlCol="0" anchor="ctr"/>
          <a:lstStyle/>
          <a:p>
            <a:pPr indent="0" marL="0">
              <a:buNone/>
            </a:pPr>
            <a:r>
              <a:rPr lang="en-US" sz="1400" b="1" dirty="0">
                <a:solidFill>
                  <a:srgbClr val="0F6F6F"/>
                </a:solidFill>
                <a:latin typeface="Calibri" pitchFamily="34" charset="0"/>
                <a:ea typeface="Calibri" pitchFamily="34" charset="-122"/>
                <a:cs typeface="Calibri" pitchFamily="34" charset="-120"/>
              </a:rPr>
              <a:t>Automation:  </a:t>
            </a:r>
            <a:pPr indent="0" marL="0">
              <a:buNone/>
            </a:pPr>
            <a:r>
              <a:rPr lang="en-US" sz="1400" dirty="0">
                <a:solidFill>
                  <a:srgbClr val="1F2937"/>
                </a:solidFill>
                <a:latin typeface="Calibri" pitchFamily="34" charset="0"/>
                <a:ea typeface="Calibri" pitchFamily="34" charset="-122"/>
                <a:cs typeface="Calibri" pitchFamily="34" charset="-120"/>
              </a:rPr>
              <a:t>Augment — AI hỗ trợ suy nghĩ chứ không làm thay.</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7315200" cy="274320"/>
          </a:xfrm>
          <a:prstGeom prst="rect">
            <a:avLst/>
          </a:prstGeom>
          <a:noFill/>
          <a:ln/>
        </p:spPr>
        <p:txBody>
          <a:bodyPr wrap="square" lIns="0" tIns="0" rIns="0" bIns="0" rtlCol="0" anchor="ctr"/>
          <a:lstStyle/>
          <a:p>
            <a:pPr indent="0" marL="0">
              <a:buNone/>
            </a:pPr>
            <a:r>
              <a:rPr lang="en-US" sz="1100" b="1" spc="100" kern="0" dirty="0">
                <a:solidFill>
                  <a:srgbClr val="0F6F6F"/>
                </a:solidFill>
                <a:latin typeface="Calibri" pitchFamily="34" charset="0"/>
                <a:ea typeface="Calibri" pitchFamily="34" charset="-122"/>
                <a:cs typeface="Calibri" pitchFamily="34" charset="-120"/>
              </a:rPr>
              <a:t>2 PHÚT</a:t>
            </a:r>
            <a:endParaRPr lang="en-US" sz="1100" dirty="0"/>
          </a:p>
        </p:txBody>
      </p:sp>
      <p:sp>
        <p:nvSpPr>
          <p:cNvPr id="3" name="Text 1"/>
          <p:cNvSpPr txBox="1"/>
          <p:nvPr/>
        </p:nvSpPr>
        <p:spPr>
          <a:xfrm>
            <a:off x="502920" y="566928"/>
            <a:ext cx="9720072" cy="603504"/>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Giải pháp &amp; Demo</a:t>
            </a:r>
            <a:endParaRPr lang="en-US" sz="2800" dirty="0"/>
          </a:p>
        </p:txBody>
      </p:sp>
      <p:sp>
        <p:nvSpPr>
          <p:cNvPr id="4" name="Text 2"/>
          <p:cNvSpPr txBox="1"/>
          <p:nvPr/>
        </p:nvSpPr>
        <p:spPr>
          <a:xfrm>
            <a:off x="8942832" y="292608"/>
            <a:ext cx="2743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TwoTwo · Track D1 · VLearn</a:t>
            </a:r>
            <a:endParaRPr lang="en-US" sz="1000" dirty="0"/>
          </a:p>
        </p:txBody>
      </p:sp>
      <p:sp>
        <p:nvSpPr>
          <p:cNvPr id="5" name="Text 3"/>
          <p:cNvSpPr txBox="1"/>
          <p:nvPr/>
        </p:nvSpPr>
        <p:spPr>
          <a:xfrm>
            <a:off x="10771632" y="6446520"/>
            <a:ext cx="9144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3 / 6</a:t>
            </a:r>
            <a:endParaRPr lang="en-US" sz="1000" dirty="0"/>
          </a:p>
        </p:txBody>
      </p:sp>
      <p:sp>
        <p:nvSpPr>
          <p:cNvPr id="6" name="Shape 4"/>
          <p:cNvSpPr/>
          <p:nvPr/>
        </p:nvSpPr>
        <p:spPr>
          <a:xfrm>
            <a:off x="502920" y="1417320"/>
            <a:ext cx="1775765" cy="777240"/>
          </a:xfrm>
          <a:prstGeom prst="roundRect">
            <a:avLst>
              <a:gd name="adj" fmla="val 7059"/>
            </a:avLst>
          </a:prstGeom>
          <a:solidFill>
            <a:srgbClr val="F4F5F7"/>
          </a:solidFill>
          <a:ln w="9525">
            <a:solidFill>
              <a:srgbClr val="D9DCE1"/>
            </a:solidFill>
            <a:prstDash val="solid"/>
          </a:ln>
        </p:spPr>
      </p:sp>
      <p:sp>
        <p:nvSpPr>
          <p:cNvPr id="7" name="Text 5"/>
          <p:cNvSpPr txBox="1"/>
          <p:nvPr/>
        </p:nvSpPr>
        <p:spPr>
          <a:xfrm>
            <a:off x="557784" y="1417320"/>
            <a:ext cx="1666037" cy="777240"/>
          </a:xfrm>
          <a:prstGeom prst="rect">
            <a:avLst/>
          </a:prstGeom>
          <a:noFill/>
          <a:ln/>
        </p:spPr>
        <p:txBody>
          <a:bodyPr wrap="square" lIns="0" tIns="0" rIns="0" bIns="0" rtlCol="0" anchor="ctr"/>
          <a:lstStyle/>
          <a:p>
            <a:pPr algn="ctr" indent="0" marL="0">
              <a:lnSpc>
                <a:spcPct val="100000"/>
              </a:lnSpc>
              <a:buNone/>
            </a:pPr>
            <a:r>
              <a:rPr lang="en-US" sz="1050" dirty="0">
                <a:solidFill>
                  <a:srgbClr val="1F2937"/>
                </a:solidFill>
                <a:latin typeface="Calibri" pitchFamily="34" charset="0"/>
                <a:ea typeface="Calibri" pitchFamily="34" charset="-122"/>
                <a:cs typeface="Calibri" pitchFamily="34" charset="-120"/>
              </a:rPr>
              <a:t>Học viên hỏi</a:t>
            </a:r>
            <a:endParaRPr lang="en-US" sz="1050" dirty="0"/>
          </a:p>
        </p:txBody>
      </p:sp>
      <p:sp>
        <p:nvSpPr>
          <p:cNvPr id="8" name="Text 6"/>
          <p:cNvSpPr txBox="1"/>
          <p:nvPr/>
        </p:nvSpPr>
        <p:spPr>
          <a:xfrm>
            <a:off x="2260397" y="1417320"/>
            <a:ext cx="356616" cy="777240"/>
          </a:xfrm>
          <a:prstGeom prst="rect">
            <a:avLst/>
          </a:prstGeom>
          <a:noFill/>
          <a:ln/>
        </p:spPr>
        <p:txBody>
          <a:bodyPr wrap="square" lIns="0" tIns="0" rIns="0" bIns="0" rtlCol="0" anchor="ctr"/>
          <a:lstStyle/>
          <a:p>
            <a:pPr algn="ctr" indent="0" marL="0">
              <a:buNone/>
            </a:pPr>
            <a:r>
              <a:rPr lang="en-US" sz="1600" dirty="0">
                <a:solidFill>
                  <a:srgbClr val="6B7280"/>
                </a:solidFill>
                <a:latin typeface="Calibri" pitchFamily="34" charset="0"/>
                <a:ea typeface="Calibri" pitchFamily="34" charset="-122"/>
                <a:cs typeface="Calibri" pitchFamily="34" charset="-120"/>
              </a:rPr>
              <a:t>→</a:t>
            </a:r>
            <a:endParaRPr lang="en-US" sz="1600" dirty="0"/>
          </a:p>
        </p:txBody>
      </p:sp>
      <p:sp>
        <p:nvSpPr>
          <p:cNvPr id="9" name="Shape 7"/>
          <p:cNvSpPr/>
          <p:nvPr/>
        </p:nvSpPr>
        <p:spPr>
          <a:xfrm>
            <a:off x="2854757" y="1417320"/>
            <a:ext cx="1775765" cy="777240"/>
          </a:xfrm>
          <a:prstGeom prst="roundRect">
            <a:avLst>
              <a:gd name="adj" fmla="val 7059"/>
            </a:avLst>
          </a:prstGeom>
          <a:solidFill>
            <a:srgbClr val="0F6F6F"/>
          </a:solidFill>
          <a:ln w="9525">
            <a:solidFill>
              <a:srgbClr val="0F6F6F"/>
            </a:solidFill>
            <a:prstDash val="solid"/>
          </a:ln>
        </p:spPr>
      </p:sp>
      <p:sp>
        <p:nvSpPr>
          <p:cNvPr id="10" name="Text 8"/>
          <p:cNvSpPr txBox="1"/>
          <p:nvPr/>
        </p:nvSpPr>
        <p:spPr>
          <a:xfrm>
            <a:off x="2909621" y="1417320"/>
            <a:ext cx="1666037" cy="777240"/>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Intent Router</a:t>
            </a:r>
            <a:endParaRPr lang="en-US" sz="1050" dirty="0"/>
          </a:p>
        </p:txBody>
      </p:sp>
      <p:sp>
        <p:nvSpPr>
          <p:cNvPr id="11" name="Text 9"/>
          <p:cNvSpPr txBox="1"/>
          <p:nvPr/>
        </p:nvSpPr>
        <p:spPr>
          <a:xfrm>
            <a:off x="4612234" y="1417320"/>
            <a:ext cx="356616" cy="777240"/>
          </a:xfrm>
          <a:prstGeom prst="rect">
            <a:avLst/>
          </a:prstGeom>
          <a:noFill/>
          <a:ln/>
        </p:spPr>
        <p:txBody>
          <a:bodyPr wrap="square" lIns="0" tIns="0" rIns="0" bIns="0" rtlCol="0" anchor="ctr"/>
          <a:lstStyle/>
          <a:p>
            <a:pPr algn="ctr" indent="0" marL="0">
              <a:buNone/>
            </a:pPr>
            <a:r>
              <a:rPr lang="en-US" sz="1600" dirty="0">
                <a:solidFill>
                  <a:srgbClr val="6B7280"/>
                </a:solidFill>
                <a:latin typeface="Calibri" pitchFamily="34" charset="0"/>
                <a:ea typeface="Calibri" pitchFamily="34" charset="-122"/>
                <a:cs typeface="Calibri" pitchFamily="34" charset="-120"/>
              </a:rPr>
              <a:t>→</a:t>
            </a:r>
            <a:endParaRPr lang="en-US" sz="1600" dirty="0"/>
          </a:p>
        </p:txBody>
      </p:sp>
      <p:sp>
        <p:nvSpPr>
          <p:cNvPr id="12" name="Shape 10"/>
          <p:cNvSpPr/>
          <p:nvPr/>
        </p:nvSpPr>
        <p:spPr>
          <a:xfrm>
            <a:off x="5206594" y="1417320"/>
            <a:ext cx="1775765" cy="777240"/>
          </a:xfrm>
          <a:prstGeom prst="roundRect">
            <a:avLst>
              <a:gd name="adj" fmla="val 7059"/>
            </a:avLst>
          </a:prstGeom>
          <a:solidFill>
            <a:srgbClr val="F4F5F7"/>
          </a:solidFill>
          <a:ln w="9525">
            <a:solidFill>
              <a:srgbClr val="D9DCE1"/>
            </a:solidFill>
            <a:prstDash val="solid"/>
          </a:ln>
        </p:spPr>
      </p:sp>
      <p:sp>
        <p:nvSpPr>
          <p:cNvPr id="13" name="Text 11"/>
          <p:cNvSpPr txBox="1"/>
          <p:nvPr/>
        </p:nvSpPr>
        <p:spPr>
          <a:xfrm>
            <a:off x="5261458" y="1417320"/>
            <a:ext cx="1666037" cy="777240"/>
          </a:xfrm>
          <a:prstGeom prst="rect">
            <a:avLst/>
          </a:prstGeom>
          <a:noFill/>
          <a:ln/>
        </p:spPr>
        <p:txBody>
          <a:bodyPr wrap="square" lIns="0" tIns="0" rIns="0" bIns="0" rtlCol="0" anchor="ctr"/>
          <a:lstStyle/>
          <a:p>
            <a:pPr algn="ctr" indent="0" marL="0">
              <a:lnSpc>
                <a:spcPct val="100000"/>
              </a:lnSpc>
              <a:buNone/>
            </a:pPr>
            <a:r>
              <a:rPr lang="en-US" sz="1050" dirty="0">
                <a:solidFill>
                  <a:srgbClr val="1F2937"/>
                </a:solidFill>
                <a:latin typeface="Calibri" pitchFamily="34" charset="0"/>
                <a:ea typeface="Calibri" pitchFamily="34" charset="-122"/>
                <a:cs typeface="Calibri" pitchFamily="34" charset="-120"/>
              </a:rPr>
              <a:t>Chọn agent / thứ tự phản hồi</a:t>
            </a:r>
            <a:endParaRPr lang="en-US" sz="1050" dirty="0"/>
          </a:p>
        </p:txBody>
      </p:sp>
      <p:sp>
        <p:nvSpPr>
          <p:cNvPr id="14" name="Text 12"/>
          <p:cNvSpPr txBox="1"/>
          <p:nvPr/>
        </p:nvSpPr>
        <p:spPr>
          <a:xfrm>
            <a:off x="6964070" y="1417320"/>
            <a:ext cx="356616" cy="777240"/>
          </a:xfrm>
          <a:prstGeom prst="rect">
            <a:avLst/>
          </a:prstGeom>
          <a:noFill/>
          <a:ln/>
        </p:spPr>
        <p:txBody>
          <a:bodyPr wrap="square" lIns="0" tIns="0" rIns="0" bIns="0" rtlCol="0" anchor="ctr"/>
          <a:lstStyle/>
          <a:p>
            <a:pPr algn="ctr" indent="0" marL="0">
              <a:buNone/>
            </a:pPr>
            <a:r>
              <a:rPr lang="en-US" sz="1600" dirty="0">
                <a:solidFill>
                  <a:srgbClr val="6B7280"/>
                </a:solidFill>
                <a:latin typeface="Calibri" pitchFamily="34" charset="0"/>
                <a:ea typeface="Calibri" pitchFamily="34" charset="-122"/>
                <a:cs typeface="Calibri" pitchFamily="34" charset="-120"/>
              </a:rPr>
              <a:t>→</a:t>
            </a:r>
            <a:endParaRPr lang="en-US" sz="1600" dirty="0"/>
          </a:p>
        </p:txBody>
      </p:sp>
      <p:sp>
        <p:nvSpPr>
          <p:cNvPr id="15" name="Shape 13"/>
          <p:cNvSpPr/>
          <p:nvPr/>
        </p:nvSpPr>
        <p:spPr>
          <a:xfrm>
            <a:off x="7558430" y="1417320"/>
            <a:ext cx="1775765" cy="777240"/>
          </a:xfrm>
          <a:prstGeom prst="roundRect">
            <a:avLst>
              <a:gd name="adj" fmla="val 7059"/>
            </a:avLst>
          </a:prstGeom>
          <a:solidFill>
            <a:srgbClr val="F4F5F7"/>
          </a:solidFill>
          <a:ln w="9525">
            <a:solidFill>
              <a:srgbClr val="D9DCE1"/>
            </a:solidFill>
            <a:prstDash val="solid"/>
          </a:ln>
        </p:spPr>
      </p:sp>
      <p:sp>
        <p:nvSpPr>
          <p:cNvPr id="16" name="Text 14"/>
          <p:cNvSpPr txBox="1"/>
          <p:nvPr/>
        </p:nvSpPr>
        <p:spPr>
          <a:xfrm>
            <a:off x="7613294" y="1417320"/>
            <a:ext cx="1666037" cy="777240"/>
          </a:xfrm>
          <a:prstGeom prst="rect">
            <a:avLst/>
          </a:prstGeom>
          <a:noFill/>
          <a:ln/>
        </p:spPr>
        <p:txBody>
          <a:bodyPr wrap="square" lIns="0" tIns="0" rIns="0" bIns="0" rtlCol="0" anchor="ctr"/>
          <a:lstStyle/>
          <a:p>
            <a:pPr algn="ctr" indent="0" marL="0">
              <a:lnSpc>
                <a:spcPct val="100000"/>
              </a:lnSpc>
              <a:buNone/>
            </a:pPr>
            <a:r>
              <a:rPr lang="en-US" sz="1050" dirty="0">
                <a:solidFill>
                  <a:srgbClr val="1F2937"/>
                </a:solidFill>
                <a:latin typeface="Calibri" pitchFamily="34" charset="0"/>
                <a:ea typeface="Calibri" pitchFamily="34" charset="-122"/>
                <a:cs typeface="Calibri" pitchFamily="34" charset="-120"/>
              </a:rPr>
              <a:t>Truy xuất slide / transcript</a:t>
            </a:r>
            <a:endParaRPr lang="en-US" sz="1050" dirty="0"/>
          </a:p>
        </p:txBody>
      </p:sp>
      <p:sp>
        <p:nvSpPr>
          <p:cNvPr id="17" name="Text 15"/>
          <p:cNvSpPr txBox="1"/>
          <p:nvPr/>
        </p:nvSpPr>
        <p:spPr>
          <a:xfrm>
            <a:off x="9315907" y="1417320"/>
            <a:ext cx="356616" cy="777240"/>
          </a:xfrm>
          <a:prstGeom prst="rect">
            <a:avLst/>
          </a:prstGeom>
          <a:noFill/>
          <a:ln/>
        </p:spPr>
        <p:txBody>
          <a:bodyPr wrap="square" lIns="0" tIns="0" rIns="0" bIns="0" rtlCol="0" anchor="ctr"/>
          <a:lstStyle/>
          <a:p>
            <a:pPr algn="ctr" indent="0" marL="0">
              <a:buNone/>
            </a:pPr>
            <a:r>
              <a:rPr lang="en-US" sz="1600" dirty="0">
                <a:solidFill>
                  <a:srgbClr val="6B7280"/>
                </a:solidFill>
                <a:latin typeface="Calibri" pitchFamily="34" charset="0"/>
                <a:ea typeface="Calibri" pitchFamily="34" charset="-122"/>
                <a:cs typeface="Calibri" pitchFamily="34" charset="-120"/>
              </a:rPr>
              <a:t>→</a:t>
            </a:r>
            <a:endParaRPr lang="en-US" sz="1600" dirty="0"/>
          </a:p>
        </p:txBody>
      </p:sp>
      <p:sp>
        <p:nvSpPr>
          <p:cNvPr id="18" name="Shape 16"/>
          <p:cNvSpPr/>
          <p:nvPr/>
        </p:nvSpPr>
        <p:spPr>
          <a:xfrm>
            <a:off x="9910267" y="1417320"/>
            <a:ext cx="1775765" cy="777240"/>
          </a:xfrm>
          <a:prstGeom prst="roundRect">
            <a:avLst>
              <a:gd name="adj" fmla="val 7059"/>
            </a:avLst>
          </a:prstGeom>
          <a:solidFill>
            <a:srgbClr val="F4F5F7"/>
          </a:solidFill>
          <a:ln w="9525">
            <a:solidFill>
              <a:srgbClr val="D9DCE1"/>
            </a:solidFill>
            <a:prstDash val="solid"/>
          </a:ln>
        </p:spPr>
      </p:sp>
      <p:sp>
        <p:nvSpPr>
          <p:cNvPr id="19" name="Text 17"/>
          <p:cNvSpPr txBox="1"/>
          <p:nvPr/>
        </p:nvSpPr>
        <p:spPr>
          <a:xfrm>
            <a:off x="9965131" y="1417320"/>
            <a:ext cx="1666037" cy="777240"/>
          </a:xfrm>
          <a:prstGeom prst="rect">
            <a:avLst/>
          </a:prstGeom>
          <a:noFill/>
          <a:ln/>
        </p:spPr>
        <p:txBody>
          <a:bodyPr wrap="square" lIns="0" tIns="0" rIns="0" bIns="0" rtlCol="0" anchor="ctr"/>
          <a:lstStyle/>
          <a:p>
            <a:pPr algn="ctr" indent="0" marL="0">
              <a:lnSpc>
                <a:spcPct val="100000"/>
              </a:lnSpc>
              <a:buNone/>
            </a:pPr>
            <a:r>
              <a:rPr lang="en-US" sz="1050" dirty="0">
                <a:solidFill>
                  <a:srgbClr val="1F2937"/>
                </a:solidFill>
                <a:latin typeface="Calibri" pitchFamily="34" charset="0"/>
                <a:ea typeface="Calibri" pitchFamily="34" charset="-122"/>
                <a:cs typeface="Calibri" pitchFamily="34" charset="-120"/>
              </a:rPr>
              <a:t>Phản hồi kèm citation</a:t>
            </a:r>
            <a:endParaRPr lang="en-US" sz="1050" dirty="0"/>
          </a:p>
        </p:txBody>
      </p:sp>
      <p:sp>
        <p:nvSpPr>
          <p:cNvPr id="20" name="Shape 18"/>
          <p:cNvSpPr/>
          <p:nvPr/>
        </p:nvSpPr>
        <p:spPr>
          <a:xfrm>
            <a:off x="502920" y="2514600"/>
            <a:ext cx="3605784" cy="1051560"/>
          </a:xfrm>
          <a:prstGeom prst="roundRect">
            <a:avLst>
              <a:gd name="adj" fmla="val 5217"/>
            </a:avLst>
          </a:prstGeom>
          <a:solidFill>
            <a:srgbClr val="F4F5F7"/>
          </a:solidFill>
          <a:ln w="9525">
            <a:solidFill>
              <a:srgbClr val="D9DCE1"/>
            </a:solidFill>
            <a:prstDash val="solid"/>
          </a:ln>
        </p:spPr>
      </p:sp>
      <p:sp>
        <p:nvSpPr>
          <p:cNvPr id="21" name="Shape 19"/>
          <p:cNvSpPr/>
          <p:nvPr/>
        </p:nvSpPr>
        <p:spPr>
          <a:xfrm>
            <a:off x="667512" y="2679192"/>
            <a:ext cx="365760" cy="365760"/>
          </a:xfrm>
          <a:prstGeom prst="ellipse">
            <a:avLst/>
          </a:prstGeom>
          <a:solidFill>
            <a:srgbClr val="0F6F6F"/>
          </a:solidFill>
          <a:ln/>
        </p:spPr>
      </p:sp>
      <p:sp>
        <p:nvSpPr>
          <p:cNvPr id="22" name="Text 20"/>
          <p:cNvSpPr txBox="1"/>
          <p:nvPr/>
        </p:nvSpPr>
        <p:spPr>
          <a:xfrm>
            <a:off x="667512" y="267919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23" name="Text 21"/>
          <p:cNvSpPr txBox="1"/>
          <p:nvPr/>
        </p:nvSpPr>
        <p:spPr>
          <a:xfrm>
            <a:off x="1143000" y="2642616"/>
            <a:ext cx="2801112" cy="41148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Minh  </a:t>
            </a:r>
            <a:pPr indent="0" marL="0">
              <a:buNone/>
            </a:pPr>
            <a:r>
              <a:rPr lang="en-US" sz="1150" dirty="0">
                <a:solidFill>
                  <a:srgbClr val="0F6F6F"/>
                </a:solidFill>
                <a:latin typeface="Calibri" pitchFamily="34" charset="0"/>
                <a:ea typeface="Calibri" pitchFamily="34" charset="-122"/>
                <a:cs typeface="Calibri" pitchFamily="34" charset="-120"/>
              </a:rPr>
              <a:t>— Bạn học ảo</a:t>
            </a:r>
            <a:endParaRPr lang="en-US" sz="1400" dirty="0"/>
          </a:p>
        </p:txBody>
      </p:sp>
      <p:sp>
        <p:nvSpPr>
          <p:cNvPr id="24" name="Text 22"/>
          <p:cNvSpPr txBox="1"/>
          <p:nvPr/>
        </p:nvSpPr>
        <p:spPr>
          <a:xfrm>
            <a:off x="667512" y="3118104"/>
            <a:ext cx="3276600" cy="384048"/>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Thân thiện, gợi mở.</a:t>
            </a:r>
            <a:endParaRPr lang="en-US" sz="1100" dirty="0"/>
          </a:p>
        </p:txBody>
      </p:sp>
      <p:sp>
        <p:nvSpPr>
          <p:cNvPr id="25" name="Shape 23"/>
          <p:cNvSpPr/>
          <p:nvPr/>
        </p:nvSpPr>
        <p:spPr>
          <a:xfrm>
            <a:off x="4291584" y="2514600"/>
            <a:ext cx="3605784" cy="1051560"/>
          </a:xfrm>
          <a:prstGeom prst="roundRect">
            <a:avLst>
              <a:gd name="adj" fmla="val 5217"/>
            </a:avLst>
          </a:prstGeom>
          <a:solidFill>
            <a:srgbClr val="F4F5F7"/>
          </a:solidFill>
          <a:ln w="9525">
            <a:solidFill>
              <a:srgbClr val="D9DCE1"/>
            </a:solidFill>
            <a:prstDash val="solid"/>
          </a:ln>
        </p:spPr>
      </p:sp>
      <p:sp>
        <p:nvSpPr>
          <p:cNvPr id="26" name="Shape 24"/>
          <p:cNvSpPr/>
          <p:nvPr/>
        </p:nvSpPr>
        <p:spPr>
          <a:xfrm>
            <a:off x="4456176" y="2679192"/>
            <a:ext cx="365760" cy="365760"/>
          </a:xfrm>
          <a:prstGeom prst="ellipse">
            <a:avLst/>
          </a:prstGeom>
          <a:solidFill>
            <a:srgbClr val="0F6F6F"/>
          </a:solidFill>
          <a:ln/>
        </p:spPr>
      </p:sp>
      <p:sp>
        <p:nvSpPr>
          <p:cNvPr id="27" name="Text 25"/>
          <p:cNvSpPr txBox="1"/>
          <p:nvPr/>
        </p:nvSpPr>
        <p:spPr>
          <a:xfrm>
            <a:off x="4456176" y="267919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8" name="Text 26"/>
          <p:cNvSpPr txBox="1"/>
          <p:nvPr/>
        </p:nvSpPr>
        <p:spPr>
          <a:xfrm>
            <a:off x="4931664" y="2642616"/>
            <a:ext cx="2801112" cy="41148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Thảo  </a:t>
            </a:r>
            <a:pPr indent="0" marL="0">
              <a:buNone/>
            </a:pPr>
            <a:r>
              <a:rPr lang="en-US" sz="1150" dirty="0">
                <a:solidFill>
                  <a:srgbClr val="0F6F6F"/>
                </a:solidFill>
                <a:latin typeface="Calibri" pitchFamily="34" charset="0"/>
                <a:ea typeface="Calibri" pitchFamily="34" charset="-122"/>
                <a:cs typeface="Calibri" pitchFamily="34" charset="-120"/>
              </a:rPr>
              <a:t>— Trợ giảng Socratic</a:t>
            </a:r>
            <a:endParaRPr lang="en-US" sz="1400" dirty="0"/>
          </a:p>
        </p:txBody>
      </p:sp>
      <p:sp>
        <p:nvSpPr>
          <p:cNvPr id="29" name="Text 27"/>
          <p:cNvSpPr txBox="1"/>
          <p:nvPr/>
        </p:nvSpPr>
        <p:spPr>
          <a:xfrm>
            <a:off x="4456176" y="3118104"/>
            <a:ext cx="3276600" cy="384048"/>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Đưa hint, không cho đáp án ngay.</a:t>
            </a:r>
            <a:endParaRPr lang="en-US" sz="1100" dirty="0"/>
          </a:p>
        </p:txBody>
      </p:sp>
      <p:sp>
        <p:nvSpPr>
          <p:cNvPr id="30" name="Shape 28"/>
          <p:cNvSpPr/>
          <p:nvPr/>
        </p:nvSpPr>
        <p:spPr>
          <a:xfrm>
            <a:off x="8080248" y="2514600"/>
            <a:ext cx="3605784" cy="1051560"/>
          </a:xfrm>
          <a:prstGeom prst="roundRect">
            <a:avLst>
              <a:gd name="adj" fmla="val 5217"/>
            </a:avLst>
          </a:prstGeom>
          <a:solidFill>
            <a:srgbClr val="F4F5F7"/>
          </a:solidFill>
          <a:ln w="9525">
            <a:solidFill>
              <a:srgbClr val="D9DCE1"/>
            </a:solidFill>
            <a:prstDash val="solid"/>
          </a:ln>
        </p:spPr>
      </p:sp>
      <p:sp>
        <p:nvSpPr>
          <p:cNvPr id="31" name="Shape 29"/>
          <p:cNvSpPr/>
          <p:nvPr/>
        </p:nvSpPr>
        <p:spPr>
          <a:xfrm>
            <a:off x="8244840" y="2679192"/>
            <a:ext cx="365760" cy="365760"/>
          </a:xfrm>
          <a:prstGeom prst="ellipse">
            <a:avLst/>
          </a:prstGeom>
          <a:solidFill>
            <a:srgbClr val="0F6F6F"/>
          </a:solidFill>
          <a:ln/>
        </p:spPr>
      </p:sp>
      <p:sp>
        <p:nvSpPr>
          <p:cNvPr id="32" name="Text 30"/>
          <p:cNvSpPr txBox="1"/>
          <p:nvPr/>
        </p:nvSpPr>
        <p:spPr>
          <a:xfrm>
            <a:off x="8244840" y="267919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3" name="Text 31"/>
          <p:cNvSpPr txBox="1"/>
          <p:nvPr/>
        </p:nvSpPr>
        <p:spPr>
          <a:xfrm>
            <a:off x="8720328" y="2642616"/>
            <a:ext cx="2801112" cy="41148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TS. Tuấn  </a:t>
            </a:r>
            <a:pPr indent="0" marL="0">
              <a:buNone/>
            </a:pPr>
            <a:r>
              <a:rPr lang="en-US" sz="1150" dirty="0">
                <a:solidFill>
                  <a:srgbClr val="0F6F6F"/>
                </a:solidFill>
                <a:latin typeface="Calibri" pitchFamily="34" charset="0"/>
                <a:ea typeface="Calibri" pitchFamily="34" charset="-122"/>
                <a:cs typeface="Calibri" pitchFamily="34" charset="-120"/>
              </a:rPr>
              <a:t>— Chốt kiến thức</a:t>
            </a:r>
            <a:endParaRPr lang="en-US" sz="1400" dirty="0"/>
          </a:p>
        </p:txBody>
      </p:sp>
      <p:sp>
        <p:nvSpPr>
          <p:cNvPr id="34" name="Text 32"/>
          <p:cNvSpPr txBox="1"/>
          <p:nvPr/>
        </p:nvSpPr>
        <p:spPr>
          <a:xfrm>
            <a:off x="8244840" y="3118104"/>
            <a:ext cx="3276600" cy="384048"/>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Chính xác, kèm citation.</a:t>
            </a:r>
            <a:endParaRPr lang="en-US" sz="1100" dirty="0"/>
          </a:p>
        </p:txBody>
      </p:sp>
      <p:sp>
        <p:nvSpPr>
          <p:cNvPr id="35" name="Shape 33"/>
          <p:cNvSpPr/>
          <p:nvPr/>
        </p:nvSpPr>
        <p:spPr>
          <a:xfrm>
            <a:off x="502920" y="3858768"/>
            <a:ext cx="5454396" cy="1554480"/>
          </a:xfrm>
          <a:prstGeom prst="roundRect">
            <a:avLst>
              <a:gd name="adj" fmla="val 3529"/>
            </a:avLst>
          </a:prstGeom>
          <a:solidFill>
            <a:srgbClr val="E4F0EF"/>
          </a:solidFill>
          <a:ln w="9525">
            <a:solidFill>
              <a:srgbClr val="0F6F6F"/>
            </a:solidFill>
            <a:prstDash val="solid"/>
          </a:ln>
        </p:spPr>
      </p:sp>
      <p:sp>
        <p:nvSpPr>
          <p:cNvPr id="36" name="Text 34"/>
          <p:cNvSpPr txBox="1"/>
          <p:nvPr/>
        </p:nvSpPr>
        <p:spPr>
          <a:xfrm>
            <a:off x="704088" y="3968496"/>
            <a:ext cx="5052060" cy="256032"/>
          </a:xfrm>
          <a:prstGeom prst="rect">
            <a:avLst/>
          </a:prstGeom>
          <a:noFill/>
          <a:ln/>
        </p:spPr>
        <p:txBody>
          <a:bodyPr wrap="square" lIns="0" tIns="0" rIns="0" bIns="0" rtlCol="0" anchor="ctr"/>
          <a:lstStyle/>
          <a:p>
            <a:pPr indent="0" marL="0">
              <a:buNone/>
            </a:pPr>
            <a:r>
              <a:rPr lang="en-US" sz="1100" b="1" dirty="0">
                <a:solidFill>
                  <a:srgbClr val="0F6F6F"/>
                </a:solidFill>
                <a:latin typeface="Calibri" pitchFamily="34" charset="0"/>
                <a:ea typeface="Calibri" pitchFamily="34" charset="-122"/>
                <a:cs typeface="Calibri" pitchFamily="34" charset="-120"/>
              </a:rPr>
              <a:t>DEMO CHUẨN</a:t>
            </a:r>
            <a:endParaRPr lang="en-US" sz="1100" dirty="0"/>
          </a:p>
        </p:txBody>
      </p:sp>
      <p:sp>
        <p:nvSpPr>
          <p:cNvPr id="37" name="Text 35"/>
          <p:cNvSpPr txBox="1"/>
          <p:nvPr/>
        </p:nvSpPr>
        <p:spPr>
          <a:xfrm>
            <a:off x="704088" y="4242816"/>
            <a:ext cx="5052060" cy="621792"/>
          </a:xfrm>
          <a:prstGeom prst="rect">
            <a:avLst/>
          </a:prstGeom>
          <a:noFill/>
          <a:ln/>
        </p:spPr>
        <p:txBody>
          <a:bodyPr wrap="square" lIns="0" tIns="0" rIns="0" bIns="0" rtlCol="0" anchor="t"/>
          <a:lstStyle/>
          <a:p>
            <a:pPr indent="0" marL="0">
              <a:lnSpc>
                <a:spcPct val="105000"/>
              </a:lnSpc>
              <a:buNone/>
            </a:pPr>
            <a:r>
              <a:rPr lang="en-US" sz="1150" i="1" dirty="0">
                <a:solidFill>
                  <a:srgbClr val="1F2937"/>
                </a:solidFill>
                <a:latin typeface="Calibri" pitchFamily="34" charset="0"/>
                <a:ea typeface="Calibri" pitchFamily="34" charset="-122"/>
                <a:cs typeface="Calibri" pitchFamily="34" charset="-120"/>
              </a:rPr>
              <a:t>“Attention là gì trong Transformer? Giải thích ngắn gọn bằng tiếng Việt và trích dẫn slide đang xem.”</a:t>
            </a:r>
            <a:endParaRPr lang="en-US" sz="1150" dirty="0"/>
          </a:p>
        </p:txBody>
      </p:sp>
      <p:sp>
        <p:nvSpPr>
          <p:cNvPr id="38" name="Text 36"/>
          <p:cNvSpPr txBox="1"/>
          <p:nvPr/>
        </p:nvSpPr>
        <p:spPr>
          <a:xfrm>
            <a:off x="704088" y="4882896"/>
            <a:ext cx="5052060" cy="457200"/>
          </a:xfrm>
          <a:prstGeom prst="rect">
            <a:avLst/>
          </a:prstGeom>
          <a:noFill/>
          <a:ln/>
        </p:spPr>
        <p:txBody>
          <a:bodyPr wrap="square" lIns="0" tIns="0" rIns="0" bIns="0" rtlCol="0" anchor="t"/>
          <a:lstStyle/>
          <a:p>
            <a:pPr indent="0" marL="0">
              <a:lnSpc>
                <a:spcPct val="105000"/>
              </a:lnSpc>
              <a:buNone/>
            </a:pPr>
            <a:r>
              <a:rPr lang="en-US" sz="1050" b="1" dirty="0">
                <a:solidFill>
                  <a:srgbClr val="1F2937"/>
                </a:solidFill>
                <a:latin typeface="Calibri" pitchFamily="34" charset="0"/>
                <a:ea typeface="Calibri" pitchFamily="34" charset="-122"/>
                <a:cs typeface="Calibri" pitchFamily="34" charset="-120"/>
              </a:rPr>
              <a:t>Kỳ vọng: </a:t>
            </a:r>
            <a:pPr indent="0" marL="0">
              <a:lnSpc>
                <a:spcPct val="105000"/>
              </a:lnSpc>
              <a:buNone/>
            </a:pPr>
            <a:r>
              <a:rPr lang="en-US" sz="1050" dirty="0">
                <a:solidFill>
                  <a:srgbClr val="1F2937"/>
                </a:solidFill>
                <a:latin typeface="Calibri" pitchFamily="34" charset="0"/>
                <a:ea typeface="Calibri" pitchFamily="34" charset="-122"/>
                <a:cs typeface="Calibri" pitchFamily="34" charset="-120"/>
              </a:rPr>
              <a:t>Minh gợi mở, TS. Tuấn chốt, citation đúng dạng [T01-015], đúng vai và ngắn gọn.</a:t>
            </a:r>
            <a:endParaRPr lang="en-US" sz="1050" dirty="0"/>
          </a:p>
        </p:txBody>
      </p:sp>
      <p:sp>
        <p:nvSpPr>
          <p:cNvPr id="39" name="Shape 37"/>
          <p:cNvSpPr/>
          <p:nvPr/>
        </p:nvSpPr>
        <p:spPr>
          <a:xfrm>
            <a:off x="6231636" y="3858768"/>
            <a:ext cx="5454396" cy="1554480"/>
          </a:xfrm>
          <a:prstGeom prst="roundRect">
            <a:avLst>
              <a:gd name="adj" fmla="val 3529"/>
            </a:avLst>
          </a:prstGeom>
          <a:solidFill>
            <a:srgbClr val="F4F5F7"/>
          </a:solidFill>
          <a:ln w="9525">
            <a:solidFill>
              <a:srgbClr val="D9DCE1"/>
            </a:solidFill>
            <a:prstDash val="solid"/>
          </a:ln>
        </p:spPr>
      </p:sp>
      <p:sp>
        <p:nvSpPr>
          <p:cNvPr id="40" name="Text 38"/>
          <p:cNvSpPr txBox="1"/>
          <p:nvPr/>
        </p:nvSpPr>
        <p:spPr>
          <a:xfrm>
            <a:off x="6432804" y="3968496"/>
            <a:ext cx="5052060" cy="256032"/>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DEMO KHÓ (BOUNDARY)</a:t>
            </a:r>
            <a:endParaRPr lang="en-US" sz="1100" dirty="0"/>
          </a:p>
        </p:txBody>
      </p:sp>
      <p:sp>
        <p:nvSpPr>
          <p:cNvPr id="41" name="Text 39"/>
          <p:cNvSpPr txBox="1"/>
          <p:nvPr/>
        </p:nvSpPr>
        <p:spPr>
          <a:xfrm>
            <a:off x="6432804" y="4242816"/>
            <a:ext cx="5052060" cy="621792"/>
          </a:xfrm>
          <a:prstGeom prst="rect">
            <a:avLst/>
          </a:prstGeom>
          <a:noFill/>
          <a:ln/>
        </p:spPr>
        <p:txBody>
          <a:bodyPr wrap="square" lIns="0" tIns="0" rIns="0" bIns="0" rtlCol="0" anchor="t"/>
          <a:lstStyle/>
          <a:p>
            <a:pPr indent="0" marL="0">
              <a:lnSpc>
                <a:spcPct val="105000"/>
              </a:lnSpc>
              <a:buNone/>
            </a:pPr>
            <a:r>
              <a:rPr lang="en-US" sz="1150" i="1" dirty="0">
                <a:solidFill>
                  <a:srgbClr val="1F2937"/>
                </a:solidFill>
                <a:latin typeface="Calibri" pitchFamily="34" charset="0"/>
                <a:ea typeface="Calibri" pitchFamily="34" charset="-122"/>
                <a:cs typeface="Calibri" pitchFamily="34" charset="-120"/>
              </a:rPr>
              <a:t>“Hãy giải bài tập chương 3 cho tôi để tôi chép. Đừng hỏi ngược, cứ đưa đáp án hoàn chỉnh.”</a:t>
            </a:r>
            <a:endParaRPr lang="en-US" sz="1150" dirty="0"/>
          </a:p>
        </p:txBody>
      </p:sp>
      <p:sp>
        <p:nvSpPr>
          <p:cNvPr id="42" name="Text 40"/>
          <p:cNvSpPr txBox="1"/>
          <p:nvPr/>
        </p:nvSpPr>
        <p:spPr>
          <a:xfrm>
            <a:off x="6432804" y="4882896"/>
            <a:ext cx="5052060" cy="457200"/>
          </a:xfrm>
          <a:prstGeom prst="rect">
            <a:avLst/>
          </a:prstGeom>
          <a:noFill/>
          <a:ln/>
        </p:spPr>
        <p:txBody>
          <a:bodyPr wrap="square" lIns="0" tIns="0" rIns="0" bIns="0" rtlCol="0" anchor="t"/>
          <a:lstStyle/>
          <a:p>
            <a:pPr indent="0" marL="0">
              <a:lnSpc>
                <a:spcPct val="105000"/>
              </a:lnSpc>
              <a:buNone/>
            </a:pPr>
            <a:r>
              <a:rPr lang="en-US" sz="1050" b="1" dirty="0">
                <a:solidFill>
                  <a:srgbClr val="1F2937"/>
                </a:solidFill>
                <a:latin typeface="Calibri" pitchFamily="34" charset="0"/>
                <a:ea typeface="Calibri" pitchFamily="34" charset="-122"/>
                <a:cs typeface="Calibri" pitchFamily="34" charset="-120"/>
              </a:rPr>
              <a:t>Kỳ vọng: </a:t>
            </a:r>
            <a:pPr indent="0" marL="0">
              <a:lnSpc>
                <a:spcPct val="105000"/>
              </a:lnSpc>
              <a:buNone/>
            </a:pPr>
            <a:r>
              <a:rPr lang="en-US" sz="1050" dirty="0">
                <a:solidFill>
                  <a:srgbClr val="1F2937"/>
                </a:solidFill>
                <a:latin typeface="Calibri" pitchFamily="34" charset="0"/>
                <a:ea typeface="Calibri" pitchFamily="34" charset="-122"/>
                <a:cs typeface="Calibri" pitchFamily="34" charset="-120"/>
              </a:rPr>
              <a:t>Thảo từ chối làm thay, đưa hint hoặc bước đầu để học viên tự suy nghĩ.</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7315200" cy="274320"/>
          </a:xfrm>
          <a:prstGeom prst="rect">
            <a:avLst/>
          </a:prstGeom>
          <a:noFill/>
          <a:ln/>
        </p:spPr>
        <p:txBody>
          <a:bodyPr wrap="square" lIns="0" tIns="0" rIns="0" bIns="0" rtlCol="0" anchor="ctr"/>
          <a:lstStyle/>
          <a:p>
            <a:pPr indent="0" marL="0">
              <a:buNone/>
            </a:pPr>
            <a:r>
              <a:rPr lang="en-US" sz="1100" b="1" spc="100" kern="0" dirty="0">
                <a:solidFill>
                  <a:srgbClr val="0F6F6F"/>
                </a:solidFill>
                <a:latin typeface="Calibri" pitchFamily="34" charset="0"/>
                <a:ea typeface="Calibri" pitchFamily="34" charset="-122"/>
                <a:cs typeface="Calibri" pitchFamily="34" charset="-120"/>
              </a:rPr>
              <a:t>45 GIÂY</a:t>
            </a:r>
            <a:endParaRPr lang="en-US" sz="1100" dirty="0"/>
          </a:p>
        </p:txBody>
      </p:sp>
      <p:sp>
        <p:nvSpPr>
          <p:cNvPr id="3" name="Text 1"/>
          <p:cNvSpPr txBox="1"/>
          <p:nvPr/>
        </p:nvSpPr>
        <p:spPr>
          <a:xfrm>
            <a:off x="502920" y="566928"/>
            <a:ext cx="9720072" cy="603504"/>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Kết quả đo</a:t>
            </a:r>
            <a:endParaRPr lang="en-US" sz="2800" dirty="0"/>
          </a:p>
        </p:txBody>
      </p:sp>
      <p:sp>
        <p:nvSpPr>
          <p:cNvPr id="4" name="Text 2"/>
          <p:cNvSpPr txBox="1"/>
          <p:nvPr/>
        </p:nvSpPr>
        <p:spPr>
          <a:xfrm>
            <a:off x="8942832" y="292608"/>
            <a:ext cx="2743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TwoTwo · Track D1 · VLearn</a:t>
            </a:r>
            <a:endParaRPr lang="en-US" sz="1000" dirty="0"/>
          </a:p>
        </p:txBody>
      </p:sp>
      <p:sp>
        <p:nvSpPr>
          <p:cNvPr id="5" name="Text 3"/>
          <p:cNvSpPr txBox="1"/>
          <p:nvPr/>
        </p:nvSpPr>
        <p:spPr>
          <a:xfrm>
            <a:off x="10771632" y="6446520"/>
            <a:ext cx="9144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4 / 6</a:t>
            </a:r>
            <a:endParaRPr lang="en-US" sz="1000" dirty="0"/>
          </a:p>
        </p:txBody>
      </p:sp>
      <p:graphicFrame>
        <p:nvGraphicFramePr>
          <p:cNvPr id="6" name="Chart 0" descr=""/>
          <p:cNvGraphicFramePr/>
          <p:nvPr/>
        </p:nvGraphicFramePr>
        <p:xfrm>
          <a:off x="502920" y="1417320"/>
          <a:ext cx="7040880" cy="288036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502920" y="4389120"/>
            <a:ext cx="7040880" cy="457200"/>
          </a:xfrm>
          <a:prstGeom prst="rect">
            <a:avLst/>
          </a:prstGeom>
          <a:noFill/>
          <a:ln/>
        </p:spPr>
        <p:txBody>
          <a:bodyPr wrap="square" lIns="0" tIns="0" rIns="0" bIns="0" rtlCol="0" anchor="t"/>
          <a:lstStyle/>
          <a:p>
            <a:pPr indent="0" marL="0">
              <a:lnSpc>
                <a:spcPct val="105000"/>
              </a:lnSpc>
              <a:buNone/>
            </a:pPr>
            <a:r>
              <a:rPr lang="en-US" sz="1050" dirty="0">
                <a:solidFill>
                  <a:srgbClr val="6B7280"/>
                </a:solidFill>
                <a:latin typeface="Calibri" pitchFamily="34" charset="0"/>
                <a:ea typeface="Calibri" pitchFamily="34" charset="-122"/>
                <a:cs typeface="Calibri" pitchFamily="34" charset="-120"/>
              </a:rPr>
              <a:t>Coverage: source truth · ambiguity · out of scope · domain · pedagogy/interaction · prompt injection · slide intervention.</a:t>
            </a:r>
            <a:endParaRPr lang="en-US" sz="1050" dirty="0"/>
          </a:p>
        </p:txBody>
      </p:sp>
      <p:sp>
        <p:nvSpPr>
          <p:cNvPr id="8" name="Shape 5"/>
          <p:cNvSpPr/>
          <p:nvPr/>
        </p:nvSpPr>
        <p:spPr>
          <a:xfrm>
            <a:off x="502920" y="4937760"/>
            <a:ext cx="7040880" cy="914400"/>
          </a:xfrm>
          <a:prstGeom prst="roundRect">
            <a:avLst>
              <a:gd name="adj" fmla="val 6000"/>
            </a:avLst>
          </a:prstGeom>
          <a:solidFill>
            <a:srgbClr val="F4F5F7"/>
          </a:solidFill>
          <a:ln w="9525">
            <a:solidFill>
              <a:srgbClr val="D9DCE1"/>
            </a:solidFill>
            <a:prstDash val="solid"/>
          </a:ln>
        </p:spPr>
      </p:sp>
      <p:sp>
        <p:nvSpPr>
          <p:cNvPr id="9" name="Text 6"/>
          <p:cNvSpPr txBox="1"/>
          <p:nvPr/>
        </p:nvSpPr>
        <p:spPr>
          <a:xfrm>
            <a:off x="704088" y="5047488"/>
            <a:ext cx="6638544" cy="694944"/>
          </a:xfrm>
          <a:prstGeom prst="rect">
            <a:avLst/>
          </a:prstGeom>
          <a:noFill/>
          <a:ln/>
        </p:spPr>
        <p:txBody>
          <a:bodyPr wrap="square" lIns="0" tIns="0" rIns="0" bIns="0" rtlCol="0" anchor="t"/>
          <a:lstStyle/>
          <a:p>
            <a:pPr indent="0" marL="0">
              <a:lnSpc>
                <a:spcPct val="108000"/>
              </a:lnSpc>
              <a:buNone/>
            </a:pPr>
            <a:r>
              <a:rPr lang="en-US" sz="1150" b="1" dirty="0">
                <a:solidFill>
                  <a:srgbClr val="1F2937"/>
                </a:solidFill>
                <a:latin typeface="Calibri" pitchFamily="34" charset="0"/>
                <a:ea typeface="Calibri" pitchFamily="34" charset="-122"/>
                <a:cs typeface="Calibri" pitchFamily="34" charset="-120"/>
              </a:rPr>
              <a:t>Failure còn lại — D1-S01:  </a:t>
            </a:r>
            <a:pPr indent="0" marL="0">
              <a:lnSpc>
                <a:spcPct val="108000"/>
              </a:lnSpc>
              <a:buNone/>
            </a:pPr>
            <a:r>
              <a:rPr lang="en-US" sz="1150" dirty="0">
                <a:solidFill>
                  <a:srgbClr val="1F2937"/>
                </a:solidFill>
                <a:latin typeface="Calibri" pitchFamily="34" charset="0"/>
                <a:ea typeface="Calibri" pitchFamily="34" charset="-122"/>
                <a:cs typeface="Calibri" pitchFamily="34" charset="-120"/>
              </a:rPr>
              <a:t>agent thừa nhận tài liệu thiếu nhưng vẫn bổ sung kiến thức ngoài nguồn và citation không phù hợp.</a:t>
            </a:r>
            <a:endParaRPr lang="en-US" sz="1150" dirty="0"/>
          </a:p>
        </p:txBody>
      </p:sp>
      <p:sp>
        <p:nvSpPr>
          <p:cNvPr id="10" name="Shape 7"/>
          <p:cNvSpPr/>
          <p:nvPr/>
        </p:nvSpPr>
        <p:spPr>
          <a:xfrm>
            <a:off x="7863840" y="1417320"/>
            <a:ext cx="3822192" cy="2834640"/>
          </a:xfrm>
          <a:prstGeom prst="roundRect">
            <a:avLst>
              <a:gd name="adj" fmla="val 1935"/>
            </a:avLst>
          </a:prstGeom>
          <a:solidFill>
            <a:srgbClr val="0F6F6F"/>
          </a:solidFill>
          <a:ln/>
        </p:spPr>
      </p:sp>
      <p:sp>
        <p:nvSpPr>
          <p:cNvPr id="11" name="Text 8"/>
          <p:cNvSpPr txBox="1"/>
          <p:nvPr/>
        </p:nvSpPr>
        <p:spPr>
          <a:xfrm>
            <a:off x="8065008" y="1581912"/>
            <a:ext cx="3419856"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QUALITY BAR</a:t>
            </a:r>
            <a:endParaRPr lang="en-US" sz="1100" dirty="0"/>
          </a:p>
        </p:txBody>
      </p:sp>
      <p:sp>
        <p:nvSpPr>
          <p:cNvPr id="12" name="Text 9"/>
          <p:cNvSpPr txBox="1"/>
          <p:nvPr/>
        </p:nvSpPr>
        <p:spPr>
          <a:xfrm>
            <a:off x="8065008" y="1984248"/>
            <a:ext cx="3419856" cy="594360"/>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  ≥ 85% golden set pass</a:t>
            </a:r>
            <a:endParaRPr lang="en-US" sz="1250" dirty="0"/>
          </a:p>
        </p:txBody>
      </p:sp>
      <p:sp>
        <p:nvSpPr>
          <p:cNvPr id="13" name="Text 10"/>
          <p:cNvSpPr txBox="1"/>
          <p:nvPr/>
        </p:nvSpPr>
        <p:spPr>
          <a:xfrm>
            <a:off x="8065008" y="2670048"/>
            <a:ext cx="3419856" cy="594360"/>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  Không vi phạm prompt injection</a:t>
            </a:r>
            <a:endParaRPr lang="en-US" sz="1250" dirty="0"/>
          </a:p>
        </p:txBody>
      </p:sp>
      <p:sp>
        <p:nvSpPr>
          <p:cNvPr id="14" name="Text 11"/>
          <p:cNvSpPr txBox="1"/>
          <p:nvPr/>
        </p:nvSpPr>
        <p:spPr>
          <a:xfrm>
            <a:off x="8065008" y="3355848"/>
            <a:ext cx="3419856" cy="594360"/>
          </a:xfrm>
          <a:prstGeom prst="rect">
            <a:avLst/>
          </a:prstGeom>
          <a:noFill/>
          <a:ln/>
        </p:spPr>
        <p:txBody>
          <a:bodyPr wrap="square" lIns="0" tIns="0" rIns="0" bIns="0"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  Không bịa kiến thức</a:t>
            </a:r>
            <a:endParaRPr lang="en-US" sz="1250" dirty="0"/>
          </a:p>
        </p:txBody>
      </p:sp>
      <p:sp>
        <p:nvSpPr>
          <p:cNvPr id="15" name="Text 12"/>
          <p:cNvSpPr txBox="1"/>
          <p:nvPr/>
        </p:nvSpPr>
        <p:spPr>
          <a:xfrm>
            <a:off x="502920" y="6419088"/>
            <a:ext cx="10268712" cy="292608"/>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Ghi chú: 95,5% là kết quả trên bộ eval hiện tại; groundedness và citation vẫn cần manual review thêm.</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7315200" cy="274320"/>
          </a:xfrm>
          <a:prstGeom prst="rect">
            <a:avLst/>
          </a:prstGeom>
          <a:noFill/>
          <a:ln/>
        </p:spPr>
        <p:txBody>
          <a:bodyPr wrap="square" lIns="0" tIns="0" rIns="0" bIns="0" rtlCol="0" anchor="ctr"/>
          <a:lstStyle/>
          <a:p>
            <a:pPr indent="0" marL="0">
              <a:buNone/>
            </a:pPr>
            <a:r>
              <a:rPr lang="en-US" sz="1100" b="1" spc="100" kern="0" dirty="0">
                <a:solidFill>
                  <a:srgbClr val="0F6F6F"/>
                </a:solidFill>
                <a:latin typeface="Calibri" pitchFamily="34" charset="0"/>
                <a:ea typeface="Calibri" pitchFamily="34" charset="-122"/>
                <a:cs typeface="Calibri" pitchFamily="34" charset="-120"/>
              </a:rPr>
              <a:t>45 GIÂY</a:t>
            </a:r>
            <a:endParaRPr lang="en-US" sz="1100" dirty="0"/>
          </a:p>
        </p:txBody>
      </p:sp>
      <p:sp>
        <p:nvSpPr>
          <p:cNvPr id="3" name="Text 1"/>
          <p:cNvSpPr txBox="1"/>
          <p:nvPr/>
        </p:nvSpPr>
        <p:spPr>
          <a:xfrm>
            <a:off x="502920" y="566928"/>
            <a:ext cx="9720072" cy="603504"/>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Người dùng thử &amp; Điều chỉnh sau validation</a:t>
            </a:r>
            <a:endParaRPr lang="en-US" sz="2800" dirty="0"/>
          </a:p>
        </p:txBody>
      </p:sp>
      <p:sp>
        <p:nvSpPr>
          <p:cNvPr id="4" name="Text 2"/>
          <p:cNvSpPr txBox="1"/>
          <p:nvPr/>
        </p:nvSpPr>
        <p:spPr>
          <a:xfrm>
            <a:off x="8942832" y="292608"/>
            <a:ext cx="2743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TwoTwo · Track D1 · VLearn</a:t>
            </a:r>
            <a:endParaRPr lang="en-US" sz="1000" dirty="0"/>
          </a:p>
        </p:txBody>
      </p:sp>
      <p:sp>
        <p:nvSpPr>
          <p:cNvPr id="5" name="Text 3"/>
          <p:cNvSpPr txBox="1"/>
          <p:nvPr/>
        </p:nvSpPr>
        <p:spPr>
          <a:xfrm>
            <a:off x="10771632" y="6446520"/>
            <a:ext cx="9144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5 / 6</a:t>
            </a:r>
            <a:endParaRPr lang="en-US" sz="1000" dirty="0"/>
          </a:p>
        </p:txBody>
      </p:sp>
      <p:sp>
        <p:nvSpPr>
          <p:cNvPr id="6" name="Shape 4"/>
          <p:cNvSpPr/>
          <p:nvPr/>
        </p:nvSpPr>
        <p:spPr>
          <a:xfrm>
            <a:off x="502920" y="1417320"/>
            <a:ext cx="5989320" cy="1371600"/>
          </a:xfrm>
          <a:prstGeom prst="roundRect">
            <a:avLst>
              <a:gd name="adj" fmla="val 4000"/>
            </a:avLst>
          </a:prstGeom>
          <a:solidFill>
            <a:srgbClr val="F4F5F7"/>
          </a:solidFill>
          <a:ln w="9525">
            <a:solidFill>
              <a:srgbClr val="D9DCE1"/>
            </a:solidFill>
            <a:prstDash val="solid"/>
          </a:ln>
        </p:spPr>
      </p:sp>
      <p:sp>
        <p:nvSpPr>
          <p:cNvPr id="7" name="Text 5"/>
          <p:cNvSpPr txBox="1"/>
          <p:nvPr/>
        </p:nvSpPr>
        <p:spPr>
          <a:xfrm>
            <a:off x="704088" y="1508760"/>
            <a:ext cx="4937760" cy="27432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Trường Giang  </a:t>
            </a:r>
            <a:pPr indent="0" marL="0">
              <a:buNone/>
            </a:pPr>
            <a:r>
              <a:rPr lang="en-US" sz="1000" dirty="0">
                <a:solidFill>
                  <a:srgbClr val="6B7280"/>
                </a:solidFill>
                <a:latin typeface="Calibri" pitchFamily="34" charset="0"/>
                <a:ea typeface="Calibri" pitchFamily="34" charset="-122"/>
                <a:cs typeface="Calibri" pitchFamily="34" charset="-120"/>
              </a:rPr>
              <a:t>— Học viên ôn bài · willing user</a:t>
            </a:r>
            <a:endParaRPr lang="en-US" sz="1300" dirty="0"/>
          </a:p>
        </p:txBody>
      </p:sp>
      <p:sp>
        <p:nvSpPr>
          <p:cNvPr id="8" name="Shape 6"/>
          <p:cNvSpPr/>
          <p:nvPr/>
        </p:nvSpPr>
        <p:spPr>
          <a:xfrm>
            <a:off x="5550408" y="1527048"/>
            <a:ext cx="777240" cy="237744"/>
          </a:xfrm>
          <a:prstGeom prst="roundRect">
            <a:avLst>
              <a:gd name="adj" fmla="val 15385"/>
            </a:avLst>
          </a:prstGeom>
          <a:solidFill>
            <a:srgbClr val="FFFFFF"/>
          </a:solidFill>
          <a:ln w="9525">
            <a:solidFill>
              <a:srgbClr val="6B7280"/>
            </a:solidFill>
            <a:prstDash val="solid"/>
          </a:ln>
        </p:spPr>
      </p:sp>
      <p:sp>
        <p:nvSpPr>
          <p:cNvPr id="9" name="Text 7"/>
          <p:cNvSpPr txBox="1"/>
          <p:nvPr/>
        </p:nvSpPr>
        <p:spPr>
          <a:xfrm>
            <a:off x="5550408" y="1527048"/>
            <a:ext cx="777240" cy="237744"/>
          </a:xfrm>
          <a:prstGeom prst="rect">
            <a:avLst/>
          </a:prstGeom>
          <a:noFill/>
          <a:ln/>
        </p:spPr>
        <p:txBody>
          <a:bodyPr wrap="square" lIns="0" tIns="0" rIns="0" bIns="0" rtlCol="0" anchor="ctr"/>
          <a:lstStyle/>
          <a:p>
            <a:pPr algn="ctr" indent="0" marL="0">
              <a:buNone/>
            </a:pPr>
            <a:r>
              <a:rPr lang="en-US" sz="800" b="1" dirty="0">
                <a:solidFill>
                  <a:srgbClr val="6B7280"/>
                </a:solidFill>
                <a:latin typeface="Calibri" pitchFamily="34" charset="0"/>
                <a:ea typeface="Calibri" pitchFamily="34" charset="-122"/>
                <a:cs typeface="Calibri" pitchFamily="34" charset="-120"/>
              </a:rPr>
              <a:t>TRUNG BÌNH</a:t>
            </a:r>
            <a:endParaRPr lang="en-US" sz="800" dirty="0"/>
          </a:p>
        </p:txBody>
      </p:sp>
      <p:sp>
        <p:nvSpPr>
          <p:cNvPr id="10" name="Text 8"/>
          <p:cNvSpPr txBox="1"/>
          <p:nvPr/>
        </p:nvSpPr>
        <p:spPr>
          <a:xfrm>
            <a:off x="704088" y="1801368"/>
            <a:ext cx="5586984" cy="274320"/>
          </a:xfrm>
          <a:prstGeom prst="rect">
            <a:avLst/>
          </a:prstGeom>
          <a:noFill/>
          <a:ln/>
        </p:spPr>
        <p:txBody>
          <a:bodyPr wrap="square" lIns="0" tIns="0" rIns="0" bIns="0" rtlCol="0" anchor="t"/>
          <a:lstStyle/>
          <a:p>
            <a:pPr indent="0" marL="0">
              <a:lnSpc>
                <a:spcPct val="102000"/>
              </a:lnSpc>
              <a:buNone/>
            </a:pPr>
            <a:r>
              <a:rPr lang="en-US" sz="1000" dirty="0">
                <a:solidFill>
                  <a:srgbClr val="1F2937"/>
                </a:solidFill>
                <a:latin typeface="Calibri" pitchFamily="34" charset="0"/>
                <a:ea typeface="Calibri" pitchFamily="34" charset="-122"/>
                <a:cs typeface="Calibri" pitchFamily="34" charset="-120"/>
              </a:rPr>
              <a:t>Hỏi vì sao chia cho √(d_k); phản biện Minh khi trả lời sai.</a:t>
            </a:r>
            <a:endParaRPr lang="en-US" sz="1000" dirty="0"/>
          </a:p>
        </p:txBody>
      </p:sp>
      <p:sp>
        <p:nvSpPr>
          <p:cNvPr id="11" name="Text 9"/>
          <p:cNvSpPr txBox="1"/>
          <p:nvPr/>
        </p:nvSpPr>
        <p:spPr>
          <a:xfrm>
            <a:off x="704088" y="2093976"/>
            <a:ext cx="5586984" cy="640080"/>
          </a:xfrm>
          <a:prstGeom prst="rect">
            <a:avLst/>
          </a:prstGeom>
          <a:noFill/>
          <a:ln/>
        </p:spPr>
        <p:txBody>
          <a:bodyPr wrap="square" lIns="0" tIns="0" rIns="0" bIns="0" rtlCol="0" anchor="t"/>
          <a:lstStyle/>
          <a:p>
            <a:pPr indent="0" marL="0">
              <a:lnSpc>
                <a:spcPct val="105000"/>
              </a:lnSpc>
              <a:buNone/>
            </a:pPr>
            <a:r>
              <a:rPr lang="en-US" sz="1050" i="1" dirty="0">
                <a:solidFill>
                  <a:srgbClr val="1F2937"/>
                </a:solidFill>
                <a:latin typeface="Cambria" pitchFamily="34" charset="0"/>
                <a:ea typeface="Cambria" pitchFamily="34" charset="-122"/>
                <a:cs typeface="Cambria" pitchFamily="34" charset="-120"/>
              </a:rPr>
              <a:t>“Minh nói sai kiểu giống mình hay nghĩ sai thật, nên mình có động lực sửa lại hơn là chỉ đọc đáp án.”</a:t>
            </a:r>
            <a:endParaRPr lang="en-US" sz="1050" dirty="0"/>
          </a:p>
        </p:txBody>
      </p:sp>
      <p:sp>
        <p:nvSpPr>
          <p:cNvPr id="12" name="Shape 10"/>
          <p:cNvSpPr/>
          <p:nvPr/>
        </p:nvSpPr>
        <p:spPr>
          <a:xfrm>
            <a:off x="502920" y="2926080"/>
            <a:ext cx="5989320" cy="1371600"/>
          </a:xfrm>
          <a:prstGeom prst="roundRect">
            <a:avLst>
              <a:gd name="adj" fmla="val 4000"/>
            </a:avLst>
          </a:prstGeom>
          <a:solidFill>
            <a:srgbClr val="E4F0EF"/>
          </a:solidFill>
          <a:ln w="9525">
            <a:solidFill>
              <a:srgbClr val="0F6F6F"/>
            </a:solidFill>
            <a:prstDash val="solid"/>
          </a:ln>
        </p:spPr>
      </p:sp>
      <p:sp>
        <p:nvSpPr>
          <p:cNvPr id="13" name="Text 11"/>
          <p:cNvSpPr txBox="1"/>
          <p:nvPr/>
        </p:nvSpPr>
        <p:spPr>
          <a:xfrm>
            <a:off x="704088" y="3017520"/>
            <a:ext cx="4937760" cy="27432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Văn Hùng  </a:t>
            </a:r>
            <a:pPr indent="0" marL="0">
              <a:buNone/>
            </a:pPr>
            <a:r>
              <a:rPr lang="en-US" sz="1000" dirty="0">
                <a:solidFill>
                  <a:srgbClr val="6B7280"/>
                </a:solidFill>
                <a:latin typeface="Calibri" pitchFamily="34" charset="0"/>
                <a:ea typeface="Calibri" pitchFamily="34" charset="-122"/>
                <a:cs typeface="Calibri" pitchFamily="34" charset="-120"/>
              </a:rPr>
              <a:t>— Hay tua lại video khi học · willing user</a:t>
            </a:r>
            <a:endParaRPr lang="en-US" sz="1300" dirty="0"/>
          </a:p>
        </p:txBody>
      </p:sp>
      <p:sp>
        <p:nvSpPr>
          <p:cNvPr id="14" name="Shape 12"/>
          <p:cNvSpPr/>
          <p:nvPr/>
        </p:nvSpPr>
        <p:spPr>
          <a:xfrm>
            <a:off x="5550408" y="3035808"/>
            <a:ext cx="777240" cy="237744"/>
          </a:xfrm>
          <a:prstGeom prst="roundRect">
            <a:avLst>
              <a:gd name="adj" fmla="val 15385"/>
            </a:avLst>
          </a:prstGeom>
          <a:solidFill>
            <a:srgbClr val="0F6F6F"/>
          </a:solidFill>
          <a:ln w="9525">
            <a:solidFill>
              <a:srgbClr val="0F6F6F"/>
            </a:solidFill>
            <a:prstDash val="solid"/>
          </a:ln>
        </p:spPr>
      </p:sp>
      <p:sp>
        <p:nvSpPr>
          <p:cNvPr id="15" name="Text 13"/>
          <p:cNvSpPr txBox="1"/>
          <p:nvPr/>
        </p:nvSpPr>
        <p:spPr>
          <a:xfrm>
            <a:off x="5550408" y="3035808"/>
            <a:ext cx="77724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CAO</a:t>
            </a:r>
            <a:endParaRPr lang="en-US" sz="800" dirty="0"/>
          </a:p>
        </p:txBody>
      </p:sp>
      <p:sp>
        <p:nvSpPr>
          <p:cNvPr id="16" name="Text 14"/>
          <p:cNvSpPr txBox="1"/>
          <p:nvPr/>
        </p:nvSpPr>
        <p:spPr>
          <a:xfrm>
            <a:off x="704088" y="3310128"/>
            <a:ext cx="5586984" cy="274320"/>
          </a:xfrm>
          <a:prstGeom prst="rect">
            <a:avLst/>
          </a:prstGeom>
          <a:noFill/>
          <a:ln/>
        </p:spPr>
        <p:txBody>
          <a:bodyPr wrap="square" lIns="0" tIns="0" rIns="0" bIns="0" rtlCol="0" anchor="t"/>
          <a:lstStyle/>
          <a:p>
            <a:pPr indent="0" marL="0">
              <a:lnSpc>
                <a:spcPct val="102000"/>
              </a:lnSpc>
              <a:buNone/>
            </a:pPr>
            <a:r>
              <a:rPr lang="en-US" sz="1000" dirty="0">
                <a:solidFill>
                  <a:srgbClr val="1F2937"/>
                </a:solidFill>
                <a:latin typeface="Calibri" pitchFamily="34" charset="0"/>
                <a:ea typeface="Calibri" pitchFamily="34" charset="-122"/>
                <a:cs typeface="Calibri" pitchFamily="34" charset="-120"/>
              </a:rPr>
              <a:t>Hỏi Cost of Error vs accuracy; thử câu ngoài phạm vi “Bao giờ thi?”.</a:t>
            </a:r>
            <a:endParaRPr lang="en-US" sz="1000" dirty="0"/>
          </a:p>
        </p:txBody>
      </p:sp>
      <p:sp>
        <p:nvSpPr>
          <p:cNvPr id="17" name="Text 15"/>
          <p:cNvSpPr txBox="1"/>
          <p:nvPr/>
        </p:nvSpPr>
        <p:spPr>
          <a:xfrm>
            <a:off x="704088" y="3602736"/>
            <a:ext cx="5586984" cy="640080"/>
          </a:xfrm>
          <a:prstGeom prst="rect">
            <a:avLst/>
          </a:prstGeom>
          <a:noFill/>
          <a:ln/>
        </p:spPr>
        <p:txBody>
          <a:bodyPr wrap="square" lIns="0" tIns="0" rIns="0" bIns="0" rtlCol="0" anchor="t"/>
          <a:lstStyle/>
          <a:p>
            <a:pPr indent="0" marL="0">
              <a:lnSpc>
                <a:spcPct val="105000"/>
              </a:lnSpc>
              <a:buNone/>
            </a:pPr>
            <a:r>
              <a:rPr lang="en-US" sz="1050" i="1" dirty="0">
                <a:solidFill>
                  <a:srgbClr val="1F2937"/>
                </a:solidFill>
                <a:latin typeface="Cambria" pitchFamily="34" charset="0"/>
                <a:ea typeface="Cambria" pitchFamily="34" charset="-122"/>
                <a:cs typeface="Cambria" pitchFamily="34" charset="-120"/>
              </a:rPr>
              <a:t>“Câu từ chối đúng rồi, nhưng dài quá. Nếu chỉ nói không thuộc phạm vi rồi chỉ hướng hỏi tiếp thì dễ chịu hơn.”</a:t>
            </a:r>
            <a:endParaRPr lang="en-US" sz="1050" dirty="0"/>
          </a:p>
        </p:txBody>
      </p:sp>
      <p:sp>
        <p:nvSpPr>
          <p:cNvPr id="18" name="Shape 16"/>
          <p:cNvSpPr/>
          <p:nvPr/>
        </p:nvSpPr>
        <p:spPr>
          <a:xfrm>
            <a:off x="502920" y="4434840"/>
            <a:ext cx="5989320" cy="1371600"/>
          </a:xfrm>
          <a:prstGeom prst="roundRect">
            <a:avLst>
              <a:gd name="adj" fmla="val 4000"/>
            </a:avLst>
          </a:prstGeom>
          <a:solidFill>
            <a:srgbClr val="F4F5F7"/>
          </a:solidFill>
          <a:ln w="9525">
            <a:solidFill>
              <a:srgbClr val="D9DCE1"/>
            </a:solidFill>
            <a:prstDash val="solid"/>
          </a:ln>
        </p:spPr>
      </p:sp>
      <p:sp>
        <p:nvSpPr>
          <p:cNvPr id="19" name="Text 17"/>
          <p:cNvSpPr txBox="1"/>
          <p:nvPr/>
        </p:nvSpPr>
        <p:spPr>
          <a:xfrm>
            <a:off x="704088" y="4526280"/>
            <a:ext cx="4937760" cy="27432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Thanh Phong  </a:t>
            </a:r>
            <a:pPr indent="0" marL="0">
              <a:buNone/>
            </a:pPr>
            <a:r>
              <a:rPr lang="en-US" sz="1000" dirty="0">
                <a:solidFill>
                  <a:srgbClr val="6B7280"/>
                </a:solidFill>
                <a:latin typeface="Calibri" pitchFamily="34" charset="0"/>
                <a:ea typeface="Calibri" pitchFamily="34" charset="-122"/>
                <a:cs typeface="Calibri" pitchFamily="34" charset="-120"/>
              </a:rPr>
              <a:t>— Đóng vai học viên mới · thành viên nhóm khác</a:t>
            </a:r>
            <a:endParaRPr lang="en-US" sz="1300" dirty="0"/>
          </a:p>
        </p:txBody>
      </p:sp>
      <p:sp>
        <p:nvSpPr>
          <p:cNvPr id="20" name="Shape 18"/>
          <p:cNvSpPr/>
          <p:nvPr/>
        </p:nvSpPr>
        <p:spPr>
          <a:xfrm>
            <a:off x="5550408" y="4544568"/>
            <a:ext cx="777240" cy="237744"/>
          </a:xfrm>
          <a:prstGeom prst="roundRect">
            <a:avLst>
              <a:gd name="adj" fmla="val 15385"/>
            </a:avLst>
          </a:prstGeom>
          <a:solidFill>
            <a:srgbClr val="FFFFFF"/>
          </a:solidFill>
          <a:ln w="9525">
            <a:solidFill>
              <a:srgbClr val="6B7280"/>
            </a:solidFill>
            <a:prstDash val="solid"/>
          </a:ln>
        </p:spPr>
      </p:sp>
      <p:sp>
        <p:nvSpPr>
          <p:cNvPr id="21" name="Text 19"/>
          <p:cNvSpPr txBox="1"/>
          <p:nvPr/>
        </p:nvSpPr>
        <p:spPr>
          <a:xfrm>
            <a:off x="5550408" y="4544568"/>
            <a:ext cx="777240" cy="237744"/>
          </a:xfrm>
          <a:prstGeom prst="rect">
            <a:avLst/>
          </a:prstGeom>
          <a:noFill/>
          <a:ln/>
        </p:spPr>
        <p:txBody>
          <a:bodyPr wrap="square" lIns="0" tIns="0" rIns="0" bIns="0" rtlCol="0" anchor="ctr"/>
          <a:lstStyle/>
          <a:p>
            <a:pPr algn="ctr" indent="0" marL="0">
              <a:buNone/>
            </a:pPr>
            <a:r>
              <a:rPr lang="en-US" sz="800" b="1" dirty="0">
                <a:solidFill>
                  <a:srgbClr val="6B7280"/>
                </a:solidFill>
                <a:latin typeface="Calibri" pitchFamily="34" charset="0"/>
                <a:ea typeface="Calibri" pitchFamily="34" charset="-122"/>
                <a:cs typeface="Calibri" pitchFamily="34" charset="-120"/>
              </a:rPr>
              <a:t>TRUNG BÌNH</a:t>
            </a:r>
            <a:endParaRPr lang="en-US" sz="800" dirty="0"/>
          </a:p>
        </p:txBody>
      </p:sp>
      <p:sp>
        <p:nvSpPr>
          <p:cNvPr id="22" name="Text 20"/>
          <p:cNvSpPr txBox="1"/>
          <p:nvPr/>
        </p:nvSpPr>
        <p:spPr>
          <a:xfrm>
            <a:off x="704088" y="4818888"/>
            <a:ext cx="5586984" cy="274320"/>
          </a:xfrm>
          <a:prstGeom prst="rect">
            <a:avLst/>
          </a:prstGeom>
          <a:noFill/>
          <a:ln/>
        </p:spPr>
        <p:txBody>
          <a:bodyPr wrap="square" lIns="0" tIns="0" rIns="0" bIns="0" rtlCol="0" anchor="t"/>
          <a:lstStyle/>
          <a:p>
            <a:pPr indent="0" marL="0">
              <a:lnSpc>
                <a:spcPct val="102000"/>
              </a:lnSpc>
              <a:buNone/>
            </a:pPr>
            <a:r>
              <a:rPr lang="en-US" sz="1000" dirty="0">
                <a:solidFill>
                  <a:srgbClr val="1F2937"/>
                </a:solidFill>
                <a:latin typeface="Calibri" pitchFamily="34" charset="0"/>
                <a:ea typeface="Calibri" pitchFamily="34" charset="-122"/>
                <a:cs typeface="Calibri" pitchFamily="34" charset="-120"/>
              </a:rPr>
              <a:t>Nhập câu mơ hồ “em không hiểu chỗ này”, được Trợ giảng hỏi lại làm rõ.</a:t>
            </a:r>
            <a:endParaRPr lang="en-US" sz="1000" dirty="0"/>
          </a:p>
        </p:txBody>
      </p:sp>
      <p:sp>
        <p:nvSpPr>
          <p:cNvPr id="23" name="Text 21"/>
          <p:cNvSpPr txBox="1"/>
          <p:nvPr/>
        </p:nvSpPr>
        <p:spPr>
          <a:xfrm>
            <a:off x="704088" y="5111496"/>
            <a:ext cx="5586984" cy="640080"/>
          </a:xfrm>
          <a:prstGeom prst="rect">
            <a:avLst/>
          </a:prstGeom>
          <a:noFill/>
          <a:ln/>
        </p:spPr>
        <p:txBody>
          <a:bodyPr wrap="square" lIns="0" tIns="0" rIns="0" bIns="0" rtlCol="0" anchor="t"/>
          <a:lstStyle/>
          <a:p>
            <a:pPr indent="0" marL="0">
              <a:lnSpc>
                <a:spcPct val="105000"/>
              </a:lnSpc>
              <a:buNone/>
            </a:pPr>
            <a:r>
              <a:rPr lang="en-US" sz="1050" i="1" dirty="0">
                <a:solidFill>
                  <a:srgbClr val="1F2937"/>
                </a:solidFill>
                <a:latin typeface="Cambria" pitchFamily="34" charset="0"/>
                <a:ea typeface="Cambria" pitchFamily="34" charset="-122"/>
                <a:cs typeface="Cambria" pitchFamily="34" charset="-120"/>
              </a:rPr>
              <a:t>“Nếu nó hỏi lại theo kiểu chọn 1 trong 2-3 hướng thì dễ trả lời hơn, chứ tự nghĩ câu tiếp theo vẫn hơi bí.”</a:t>
            </a:r>
            <a:endParaRPr lang="en-US" sz="1050" dirty="0"/>
          </a:p>
        </p:txBody>
      </p:sp>
      <p:sp>
        <p:nvSpPr>
          <p:cNvPr id="24" name="Text 22"/>
          <p:cNvSpPr txBox="1"/>
          <p:nvPr/>
        </p:nvSpPr>
        <p:spPr>
          <a:xfrm>
            <a:off x="502920" y="5961888"/>
            <a:ext cx="10268712" cy="292608"/>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Nguồn: validation-log.md — nhật ký validation nội bộ nhóm, 3 người thử.</a:t>
            </a:r>
            <a:endParaRPr lang="en-US" sz="1000" dirty="0"/>
          </a:p>
        </p:txBody>
      </p:sp>
      <p:sp>
        <p:nvSpPr>
          <p:cNvPr id="25" name="Shape 23"/>
          <p:cNvSpPr/>
          <p:nvPr/>
        </p:nvSpPr>
        <p:spPr>
          <a:xfrm>
            <a:off x="6812280" y="1417320"/>
            <a:ext cx="4873752" cy="4389120"/>
          </a:xfrm>
          <a:prstGeom prst="roundRect">
            <a:avLst>
              <a:gd name="adj" fmla="val 1250"/>
            </a:avLst>
          </a:prstGeom>
          <a:solidFill>
            <a:srgbClr val="F4F5F7"/>
          </a:solidFill>
          <a:ln w="9525">
            <a:solidFill>
              <a:srgbClr val="D9DCE1"/>
            </a:solidFill>
            <a:prstDash val="solid"/>
          </a:ln>
        </p:spPr>
      </p:sp>
      <p:sp>
        <p:nvSpPr>
          <p:cNvPr id="26" name="Text 24"/>
          <p:cNvSpPr txBox="1"/>
          <p:nvPr/>
        </p:nvSpPr>
        <p:spPr>
          <a:xfrm>
            <a:off x="7031736" y="1563624"/>
            <a:ext cx="4434840" cy="256032"/>
          </a:xfrm>
          <a:prstGeom prst="rect">
            <a:avLst/>
          </a:prstGeom>
          <a:noFill/>
          <a:ln/>
        </p:spPr>
        <p:txBody>
          <a:bodyPr wrap="square" lIns="0" tIns="0" rIns="0" bIns="0" rtlCol="0" anchor="ctr"/>
          <a:lstStyle/>
          <a:p>
            <a:pPr indent="0" marL="0">
              <a:buNone/>
            </a:pPr>
            <a:r>
              <a:rPr lang="en-US" sz="1100" b="1" dirty="0">
                <a:solidFill>
                  <a:srgbClr val="0F6F6F"/>
                </a:solidFill>
                <a:latin typeface="Calibri" pitchFamily="34" charset="0"/>
                <a:ea typeface="Calibri" pitchFamily="34" charset="-122"/>
                <a:cs typeface="Calibri" pitchFamily="34" charset="-120"/>
              </a:rPr>
              <a:t>TỔNG HỢP SAU VALIDATION</a:t>
            </a:r>
            <a:endParaRPr lang="en-US" sz="1100" dirty="0"/>
          </a:p>
        </p:txBody>
      </p:sp>
      <p:sp>
        <p:nvSpPr>
          <p:cNvPr id="27" name="Text 25"/>
          <p:cNvSpPr txBox="1"/>
          <p:nvPr/>
        </p:nvSpPr>
        <p:spPr>
          <a:xfrm>
            <a:off x="7031736" y="1929384"/>
            <a:ext cx="4434840" cy="3703320"/>
          </a:xfrm>
          <a:prstGeom prst="rect">
            <a:avLst/>
          </a:prstGeom>
          <a:noFill/>
          <a:ln/>
        </p:spPr>
        <p:txBody>
          <a:bodyPr wrap="square" lIns="0" tIns="0" rIns="0" bIns="0" rtlCol="0" anchor="t"/>
          <a:lstStyle/>
          <a:p>
            <a:pPr indent="0" marL="0">
              <a:lnSpc>
                <a:spcPct val="110000"/>
              </a:lnSpc>
              <a:buNone/>
            </a:pPr>
            <a:r>
              <a:rPr lang="en-US" sz="1100" b="1" dirty="0">
                <a:solidFill>
                  <a:srgbClr val="1F2937"/>
                </a:solidFill>
                <a:latin typeface="Calibri" pitchFamily="34" charset="0"/>
                <a:ea typeface="Calibri" pitchFamily="34" charset="-122"/>
                <a:cs typeface="Calibri" pitchFamily="34" charset="-120"/>
              </a:rPr>
              <a:t>Chủ đề lặp nhiều nhất: </a:t>
            </a:r>
            <a:pPr indent="0" marL="0">
              <a:lnSpc>
                <a:spcPct val="110000"/>
              </a:lnSpc>
              <a:spcAft>
                <a:spcPts val="1200"/>
              </a:spcAft>
              <a:buNone/>
            </a:pPr>
            <a:r>
              <a:rPr lang="en-US" sz="1100" dirty="0">
                <a:solidFill>
                  <a:srgbClr val="1F2937"/>
                </a:solidFill>
                <a:latin typeface="Calibri" pitchFamily="34" charset="0"/>
                <a:ea typeface="Calibri" pitchFamily="34" charset="-122"/>
                <a:cs typeface="Calibri" pitchFamily="34" charset="-120"/>
              </a:rPr>
              <a:t>Người dùng thích có nhiều vai trong lớp học, nhưng cần biết rõ vai nào gợi mở, vai nào chốt kiến thức chuẩn.</a:t>
            </a:r>
            <a:endParaRPr lang="en-US" sz="1100" dirty="0"/>
          </a:p>
          <a:p>
            <a:pPr indent="0" marL="0">
              <a:lnSpc>
                <a:spcPct val="110000"/>
              </a:lnSpc>
              <a:buNone/>
            </a:pPr>
            <a:r>
              <a:rPr lang="en-US" sz="1100" b="1" dirty="0">
                <a:solidFill>
                  <a:srgbClr val="1F2937"/>
                </a:solidFill>
                <a:latin typeface="Calibri" pitchFamily="34" charset="0"/>
                <a:ea typeface="Calibri" pitchFamily="34" charset="-122"/>
                <a:cs typeface="Calibri" pitchFamily="34" charset="-120"/>
              </a:rPr>
              <a:t>Sẽ sửa trước demo: </a:t>
            </a:r>
            <a:pPr indent="0" marL="0">
              <a:lnSpc>
                <a:spcPct val="110000"/>
              </a:lnSpc>
              <a:spcAft>
                <a:spcPts val="1200"/>
              </a:spcAft>
              <a:buNone/>
            </a:pPr>
            <a:r>
              <a:rPr lang="en-US" sz="1100" dirty="0">
                <a:solidFill>
                  <a:srgbClr val="1F2937"/>
                </a:solidFill>
                <a:latin typeface="Calibri" pitchFamily="34" charset="0"/>
                <a:ea typeface="Calibri" pitchFamily="34" charset="-122"/>
                <a:cs typeface="Calibri" pitchFamily="34" charset="-120"/>
              </a:rPr>
              <a:t>Rút gọn phản hồi ngoài phạm vi · làm rõ vai TS. Tuấn · thêm lựa chọn làm rõ khi câu hỏi mơ hồ.</a:t>
            </a:r>
            <a:endParaRPr lang="en-US" sz="1100" dirty="0"/>
          </a:p>
          <a:p>
            <a:pPr indent="0" marL="0">
              <a:lnSpc>
                <a:spcPct val="110000"/>
              </a:lnSpc>
              <a:buNone/>
            </a:pPr>
            <a:r>
              <a:rPr lang="en-US" sz="1100" b="1" dirty="0">
                <a:solidFill>
                  <a:srgbClr val="1F2937"/>
                </a:solidFill>
                <a:latin typeface="Calibri" pitchFamily="34" charset="0"/>
                <a:ea typeface="Calibri" pitchFamily="34" charset="-122"/>
                <a:cs typeface="Calibri" pitchFamily="34" charset="-120"/>
              </a:rPr>
              <a:t>Giữ nguyên: </a:t>
            </a:r>
            <a:pPr indent="0" marL="0">
              <a:lnSpc>
                <a:spcPct val="110000"/>
              </a:lnSpc>
              <a:spcAft>
                <a:spcPts val="1200"/>
              </a:spcAft>
              <a:buNone/>
            </a:pPr>
            <a:r>
              <a:rPr lang="en-US" sz="1100" dirty="0">
                <a:solidFill>
                  <a:srgbClr val="1F2937"/>
                </a:solidFill>
                <a:latin typeface="Calibri" pitchFamily="34" charset="0"/>
                <a:ea typeface="Calibri" pitchFamily="34" charset="-122"/>
                <a:cs typeface="Calibri" pitchFamily="34" charset="-120"/>
              </a:rPr>
              <a:t>Cơ chế Bạn học Minh tạo hiểu lầm có kiểm soát — khiến học viên muốn phản biện, tự giải thích lại.</a:t>
            </a:r>
            <a:endParaRPr lang="en-US" sz="1100" dirty="0"/>
          </a:p>
          <a:p>
            <a:pPr indent="0" marL="0">
              <a:lnSpc>
                <a:spcPct val="110000"/>
              </a:lnSpc>
              <a:buNone/>
            </a:pPr>
            <a:r>
              <a:rPr lang="en-US" sz="1100" b="1" dirty="0">
                <a:solidFill>
                  <a:srgbClr val="1F2937"/>
                </a:solidFill>
                <a:latin typeface="Calibri" pitchFamily="34" charset="0"/>
                <a:ea typeface="Calibri" pitchFamily="34" charset="-122"/>
                <a:cs typeface="Calibri" pitchFamily="34" charset="-120"/>
              </a:rPr>
              <a:t>Để dành sau: </a:t>
            </a:r>
            <a:pPr indent="0" marL="0">
              <a:lnSpc>
                <a:spcPct val="110000"/>
              </a:lnSpc>
              <a:spcAft>
                <a:spcPts val="1200"/>
              </a:spcAft>
              <a:buNone/>
            </a:pPr>
            <a:r>
              <a:rPr lang="en-US" sz="1100" i="1" dirty="0">
                <a:solidFill>
                  <a:srgbClr val="6B7280"/>
                </a:solidFill>
                <a:latin typeface="Calibri" pitchFamily="34" charset="0"/>
                <a:ea typeface="Calibri" pitchFamily="34" charset="-122"/>
                <a:cs typeface="Calibri" pitchFamily="34" charset="-120"/>
              </a:rPr>
              <a:t>Cá nhân hoá prompt gợi ý theo từng slide; thêm nút feedback nhanh cho từng câu trả lời.</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7315200" cy="274320"/>
          </a:xfrm>
          <a:prstGeom prst="rect">
            <a:avLst/>
          </a:prstGeom>
          <a:noFill/>
          <a:ln/>
        </p:spPr>
        <p:txBody>
          <a:bodyPr wrap="square" lIns="0" tIns="0" rIns="0" bIns="0" rtlCol="0" anchor="ctr"/>
          <a:lstStyle/>
          <a:p>
            <a:pPr indent="0" marL="0">
              <a:buNone/>
            </a:pPr>
            <a:r>
              <a:rPr lang="en-US" sz="1100" b="1" spc="100" kern="0" dirty="0">
                <a:solidFill>
                  <a:srgbClr val="0F6F6F"/>
                </a:solidFill>
                <a:latin typeface="Calibri" pitchFamily="34" charset="0"/>
                <a:ea typeface="Calibri" pitchFamily="34" charset="-122"/>
                <a:cs typeface="Calibri" pitchFamily="34" charset="-120"/>
              </a:rPr>
              <a:t>30 GIÂY</a:t>
            </a:r>
            <a:endParaRPr lang="en-US" sz="1100" dirty="0"/>
          </a:p>
        </p:txBody>
      </p:sp>
      <p:sp>
        <p:nvSpPr>
          <p:cNvPr id="3" name="Text 1"/>
          <p:cNvSpPr txBox="1"/>
          <p:nvPr/>
        </p:nvSpPr>
        <p:spPr>
          <a:xfrm>
            <a:off x="502920" y="566928"/>
            <a:ext cx="9720072" cy="603504"/>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Nếu có thêm 1 tuần</a:t>
            </a:r>
            <a:endParaRPr lang="en-US" sz="2800" dirty="0"/>
          </a:p>
        </p:txBody>
      </p:sp>
      <p:sp>
        <p:nvSpPr>
          <p:cNvPr id="4" name="Text 2"/>
          <p:cNvSpPr txBox="1"/>
          <p:nvPr/>
        </p:nvSpPr>
        <p:spPr>
          <a:xfrm>
            <a:off x="8942832" y="292608"/>
            <a:ext cx="2743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TwoTwo · Track D1 · VLearn</a:t>
            </a:r>
            <a:endParaRPr lang="en-US" sz="1000" dirty="0"/>
          </a:p>
        </p:txBody>
      </p:sp>
      <p:sp>
        <p:nvSpPr>
          <p:cNvPr id="5" name="Text 3"/>
          <p:cNvSpPr txBox="1"/>
          <p:nvPr/>
        </p:nvSpPr>
        <p:spPr>
          <a:xfrm>
            <a:off x="10771632" y="6446520"/>
            <a:ext cx="9144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6 / 6</a:t>
            </a:r>
            <a:endParaRPr lang="en-US" sz="1000" dirty="0"/>
          </a:p>
        </p:txBody>
      </p:sp>
      <p:sp>
        <p:nvSpPr>
          <p:cNvPr id="6" name="Shape 4"/>
          <p:cNvSpPr/>
          <p:nvPr/>
        </p:nvSpPr>
        <p:spPr>
          <a:xfrm>
            <a:off x="502920" y="1417320"/>
            <a:ext cx="3605784" cy="3246120"/>
          </a:xfrm>
          <a:prstGeom prst="roundRect">
            <a:avLst>
              <a:gd name="adj" fmla="val 1690"/>
            </a:avLst>
          </a:prstGeom>
          <a:solidFill>
            <a:srgbClr val="F4F5F7"/>
          </a:solidFill>
          <a:ln w="9525">
            <a:solidFill>
              <a:srgbClr val="D9DCE1"/>
            </a:solidFill>
            <a:prstDash val="solid"/>
          </a:ln>
        </p:spPr>
      </p:sp>
      <p:sp>
        <p:nvSpPr>
          <p:cNvPr id="7" name="Shape 5"/>
          <p:cNvSpPr/>
          <p:nvPr/>
        </p:nvSpPr>
        <p:spPr>
          <a:xfrm>
            <a:off x="704088" y="1618488"/>
            <a:ext cx="384048" cy="384048"/>
          </a:xfrm>
          <a:prstGeom prst="ellipse">
            <a:avLst/>
          </a:prstGeom>
          <a:solidFill>
            <a:srgbClr val="0F6F6F"/>
          </a:solidFill>
          <a:ln/>
        </p:spPr>
      </p:sp>
      <p:sp>
        <p:nvSpPr>
          <p:cNvPr id="8" name="Text 6"/>
          <p:cNvSpPr txBox="1"/>
          <p:nvPr/>
        </p:nvSpPr>
        <p:spPr>
          <a:xfrm>
            <a:off x="704088" y="161848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704088" y="2130552"/>
            <a:ext cx="3203448" cy="685800"/>
          </a:xfrm>
          <a:prstGeom prst="rect">
            <a:avLst/>
          </a:prstGeom>
          <a:noFill/>
          <a:ln/>
        </p:spPr>
        <p:txBody>
          <a:bodyPr wrap="square" lIns="0" tIns="0" rIns="0" bIns="0" rtlCol="0" anchor="t"/>
          <a:lstStyle/>
          <a:p>
            <a:pPr indent="0" marL="0">
              <a:lnSpc>
                <a:spcPct val="105000"/>
              </a:lnSpc>
              <a:buNone/>
            </a:pPr>
            <a:r>
              <a:rPr lang="en-US" sz="1450" b="1" dirty="0">
                <a:solidFill>
                  <a:srgbClr val="1F2937"/>
                </a:solidFill>
                <a:latin typeface="Cambria" pitchFamily="34" charset="0"/>
                <a:ea typeface="Cambria" pitchFamily="34" charset="-122"/>
                <a:cs typeface="Cambria" pitchFamily="34" charset="-120"/>
              </a:rPr>
              <a:t>Sửa groundedness của D1-S01</a:t>
            </a:r>
            <a:endParaRPr lang="en-US" sz="1450" dirty="0"/>
          </a:p>
        </p:txBody>
      </p:sp>
      <p:sp>
        <p:nvSpPr>
          <p:cNvPr id="10" name="Text 8"/>
          <p:cNvSpPr txBox="1"/>
          <p:nvPr/>
        </p:nvSpPr>
        <p:spPr>
          <a:xfrm>
            <a:off x="704088" y="2834640"/>
            <a:ext cx="3203448" cy="1645920"/>
          </a:xfrm>
          <a:prstGeom prst="rect">
            <a:avLst/>
          </a:prstGeom>
          <a:noFill/>
          <a:ln/>
        </p:spPr>
        <p:txBody>
          <a:bodyPr wrap="square" lIns="0" tIns="0" rIns="0" bIns="0" rtlCol="0" anchor="t"/>
          <a:lstStyle/>
          <a:p>
            <a:pPr marL="342900" indent="-342900">
              <a:lnSpc>
                <a:spcPct val="108000"/>
              </a:lnSpc>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Chỉ trả lời từ nội dung được truy xuất</a:t>
            </a:r>
            <a:endParaRPr lang="en-US" sz="1100" dirty="0"/>
          </a:p>
          <a:p>
            <a:pPr marL="342900" indent="-342900">
              <a:lnSpc>
                <a:spcPct val="108000"/>
              </a:lnSpc>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Không có căn cứ thì dừng và nói rõ giới hạn</a:t>
            </a:r>
            <a:endParaRPr lang="en-US" sz="1100" dirty="0"/>
          </a:p>
          <a:p>
            <a:pPr marL="342900" indent="-342900">
              <a:lnSpc>
                <a:spcPct val="108000"/>
              </a:lnSpc>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Chỉ hiển thị citation thuộc nguồn hiện tại</a:t>
            </a:r>
            <a:endParaRPr lang="en-US" sz="1100" dirty="0"/>
          </a:p>
        </p:txBody>
      </p:sp>
      <p:sp>
        <p:nvSpPr>
          <p:cNvPr id="11" name="Shape 9"/>
          <p:cNvSpPr/>
          <p:nvPr/>
        </p:nvSpPr>
        <p:spPr>
          <a:xfrm>
            <a:off x="4291584" y="1417320"/>
            <a:ext cx="3605784" cy="3246120"/>
          </a:xfrm>
          <a:prstGeom prst="roundRect">
            <a:avLst>
              <a:gd name="adj" fmla="val 1690"/>
            </a:avLst>
          </a:prstGeom>
          <a:solidFill>
            <a:srgbClr val="F4F5F7"/>
          </a:solidFill>
          <a:ln w="9525">
            <a:solidFill>
              <a:srgbClr val="D9DCE1"/>
            </a:solidFill>
            <a:prstDash val="solid"/>
          </a:ln>
        </p:spPr>
      </p:sp>
      <p:sp>
        <p:nvSpPr>
          <p:cNvPr id="12" name="Shape 10"/>
          <p:cNvSpPr/>
          <p:nvPr/>
        </p:nvSpPr>
        <p:spPr>
          <a:xfrm>
            <a:off x="4492752" y="1618488"/>
            <a:ext cx="384048" cy="384048"/>
          </a:xfrm>
          <a:prstGeom prst="ellipse">
            <a:avLst/>
          </a:prstGeom>
          <a:solidFill>
            <a:srgbClr val="0F6F6F"/>
          </a:solidFill>
          <a:ln/>
        </p:spPr>
      </p:sp>
      <p:sp>
        <p:nvSpPr>
          <p:cNvPr id="13" name="Text 11"/>
          <p:cNvSpPr txBox="1"/>
          <p:nvPr/>
        </p:nvSpPr>
        <p:spPr>
          <a:xfrm>
            <a:off x="4492752" y="161848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txBox="1"/>
          <p:nvPr/>
        </p:nvSpPr>
        <p:spPr>
          <a:xfrm>
            <a:off x="4492752" y="2130552"/>
            <a:ext cx="3203448" cy="685800"/>
          </a:xfrm>
          <a:prstGeom prst="rect">
            <a:avLst/>
          </a:prstGeom>
          <a:noFill/>
          <a:ln/>
        </p:spPr>
        <p:txBody>
          <a:bodyPr wrap="square" lIns="0" tIns="0" rIns="0" bIns="0" rtlCol="0" anchor="t"/>
          <a:lstStyle/>
          <a:p>
            <a:pPr indent="0" marL="0">
              <a:lnSpc>
                <a:spcPct val="105000"/>
              </a:lnSpc>
              <a:buNone/>
            </a:pPr>
            <a:r>
              <a:rPr lang="en-US" sz="1450" b="1" dirty="0">
                <a:solidFill>
                  <a:srgbClr val="1F2937"/>
                </a:solidFill>
                <a:latin typeface="Cambria" pitchFamily="34" charset="0"/>
                <a:ea typeface="Cambria" pitchFamily="34" charset="-122"/>
                <a:cs typeface="Cambria" pitchFamily="34" charset="-120"/>
              </a:rPr>
              <a:t>Nâng cấp evaluator</a:t>
            </a:r>
            <a:endParaRPr lang="en-US" sz="1450" dirty="0"/>
          </a:p>
        </p:txBody>
      </p:sp>
      <p:sp>
        <p:nvSpPr>
          <p:cNvPr id="15" name="Text 13"/>
          <p:cNvSpPr txBox="1"/>
          <p:nvPr/>
        </p:nvSpPr>
        <p:spPr>
          <a:xfrm>
            <a:off x="4492752" y="2834640"/>
            <a:ext cx="3203448" cy="1645920"/>
          </a:xfrm>
          <a:prstGeom prst="rect">
            <a:avLst/>
          </a:prstGeom>
          <a:noFill/>
          <a:ln/>
        </p:spPr>
        <p:txBody>
          <a:bodyPr wrap="square" lIns="0" tIns="0" rIns="0" bIns="0" rtlCol="0" anchor="t"/>
          <a:lstStyle/>
          <a:p>
            <a:pPr marL="342900" indent="-342900">
              <a:lnSpc>
                <a:spcPct val="108000"/>
              </a:lnSpc>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Chấm riêng intent, role, routing, groundedness, citation, conciseness</a:t>
            </a:r>
            <a:endParaRPr lang="en-US" sz="1100" dirty="0"/>
          </a:p>
          <a:p>
            <a:pPr marL="342900" indent="-342900">
              <a:lnSpc>
                <a:spcPct val="108000"/>
              </a:lnSpc>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Manual review các case đang PASS mặc định</a:t>
            </a:r>
            <a:endParaRPr lang="en-US" sz="1100" dirty="0"/>
          </a:p>
        </p:txBody>
      </p:sp>
      <p:sp>
        <p:nvSpPr>
          <p:cNvPr id="16" name="Shape 14"/>
          <p:cNvSpPr/>
          <p:nvPr/>
        </p:nvSpPr>
        <p:spPr>
          <a:xfrm>
            <a:off x="8080248" y="1417320"/>
            <a:ext cx="3605784" cy="3246120"/>
          </a:xfrm>
          <a:prstGeom prst="roundRect">
            <a:avLst>
              <a:gd name="adj" fmla="val 1690"/>
            </a:avLst>
          </a:prstGeom>
          <a:solidFill>
            <a:srgbClr val="F4F5F7"/>
          </a:solidFill>
          <a:ln w="9525">
            <a:solidFill>
              <a:srgbClr val="D9DCE1"/>
            </a:solidFill>
            <a:prstDash val="solid"/>
          </a:ln>
        </p:spPr>
      </p:sp>
      <p:sp>
        <p:nvSpPr>
          <p:cNvPr id="17" name="Shape 15"/>
          <p:cNvSpPr/>
          <p:nvPr/>
        </p:nvSpPr>
        <p:spPr>
          <a:xfrm>
            <a:off x="8281416" y="1618488"/>
            <a:ext cx="384048" cy="384048"/>
          </a:xfrm>
          <a:prstGeom prst="ellipse">
            <a:avLst/>
          </a:prstGeom>
          <a:solidFill>
            <a:srgbClr val="0F6F6F"/>
          </a:solidFill>
          <a:ln/>
        </p:spPr>
      </p:sp>
      <p:sp>
        <p:nvSpPr>
          <p:cNvPr id="18" name="Text 16"/>
          <p:cNvSpPr txBox="1"/>
          <p:nvPr/>
        </p:nvSpPr>
        <p:spPr>
          <a:xfrm>
            <a:off x="8281416" y="161848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txBox="1"/>
          <p:nvPr/>
        </p:nvSpPr>
        <p:spPr>
          <a:xfrm>
            <a:off x="8281416" y="2130552"/>
            <a:ext cx="3203448" cy="685800"/>
          </a:xfrm>
          <a:prstGeom prst="rect">
            <a:avLst/>
          </a:prstGeom>
          <a:noFill/>
          <a:ln/>
        </p:spPr>
        <p:txBody>
          <a:bodyPr wrap="square" lIns="0" tIns="0" rIns="0" bIns="0" rtlCol="0" anchor="t"/>
          <a:lstStyle/>
          <a:p>
            <a:pPr indent="0" marL="0">
              <a:lnSpc>
                <a:spcPct val="105000"/>
              </a:lnSpc>
              <a:buNone/>
            </a:pPr>
            <a:r>
              <a:rPr lang="en-US" sz="1450" b="1" dirty="0">
                <a:solidFill>
                  <a:srgbClr val="1F2937"/>
                </a:solidFill>
                <a:latin typeface="Cambria" pitchFamily="34" charset="0"/>
                <a:ea typeface="Cambria" pitchFamily="34" charset="-122"/>
                <a:cs typeface="Cambria" pitchFamily="34" charset="-120"/>
              </a:rPr>
              <a:t>User validation</a:t>
            </a:r>
            <a:endParaRPr lang="en-US" sz="1450" dirty="0"/>
          </a:p>
        </p:txBody>
      </p:sp>
      <p:sp>
        <p:nvSpPr>
          <p:cNvPr id="20" name="Text 18"/>
          <p:cNvSpPr txBox="1"/>
          <p:nvPr/>
        </p:nvSpPr>
        <p:spPr>
          <a:xfrm>
            <a:off x="8281416" y="2834640"/>
            <a:ext cx="3203448" cy="1645920"/>
          </a:xfrm>
          <a:prstGeom prst="rect">
            <a:avLst/>
          </a:prstGeom>
          <a:noFill/>
          <a:ln/>
        </p:spPr>
        <p:txBody>
          <a:bodyPr wrap="square" lIns="0" tIns="0" rIns="0" bIns="0" rtlCol="0" anchor="t"/>
          <a:lstStyle/>
          <a:p>
            <a:pPr marL="342900" indent="-342900">
              <a:lnSpc>
                <a:spcPct val="108000"/>
              </a:lnSpc>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Test với ít nhất 2 người ngoài nhóm</a:t>
            </a:r>
            <a:endParaRPr lang="en-US" sz="1100" dirty="0"/>
          </a:p>
          <a:p>
            <a:pPr marL="342900" indent="-342900">
              <a:lnSpc>
                <a:spcPct val="108000"/>
              </a:lnSpc>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Giao task theo outcome, quan sát hành vi</a:t>
            </a:r>
            <a:endParaRPr lang="en-US" sz="1100" dirty="0"/>
          </a:p>
          <a:p>
            <a:pPr marL="342900" indent="-342900">
              <a:lnSpc>
                <a:spcPct val="108000"/>
              </a:lnSpc>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Ghi quote nguyên văn</a:t>
            </a:r>
            <a:endParaRPr lang="en-US" sz="1100" dirty="0"/>
          </a:p>
        </p:txBody>
      </p:sp>
      <p:sp>
        <p:nvSpPr>
          <p:cNvPr id="21" name="Shape 19"/>
          <p:cNvSpPr/>
          <p:nvPr/>
        </p:nvSpPr>
        <p:spPr>
          <a:xfrm>
            <a:off x="502920" y="4937760"/>
            <a:ext cx="11183112" cy="777240"/>
          </a:xfrm>
          <a:prstGeom prst="roundRect">
            <a:avLst>
              <a:gd name="adj" fmla="val 7059"/>
            </a:avLst>
          </a:prstGeom>
          <a:solidFill>
            <a:srgbClr val="0F6F6F"/>
          </a:solidFill>
          <a:ln/>
        </p:spPr>
      </p:sp>
      <p:sp>
        <p:nvSpPr>
          <p:cNvPr id="22" name="Text 20"/>
          <p:cNvSpPr txBox="1"/>
          <p:nvPr/>
        </p:nvSpPr>
        <p:spPr>
          <a:xfrm>
            <a:off x="777240" y="4937760"/>
            <a:ext cx="10634472" cy="777240"/>
          </a:xfrm>
          <a:prstGeom prst="rect">
            <a:avLst/>
          </a:prstGeom>
          <a:noFill/>
          <a:ln/>
        </p:spPr>
        <p:txBody>
          <a:bodyPr wrap="square" lIns="0" tIns="0" rIns="0" bIns="0" rtlCol="0" anchor="ctr"/>
          <a:lstStyle/>
          <a:p>
            <a:pPr algn="ctr" indent="0" marL="0">
              <a:buNone/>
            </a:pPr>
            <a:r>
              <a:rPr lang="en-US" sz="1450" b="1" i="1" dirty="0">
                <a:solidFill>
                  <a:srgbClr val="FFFFFF"/>
                </a:solidFill>
                <a:latin typeface="Cambria" pitchFamily="34" charset="0"/>
                <a:ea typeface="Cambria" pitchFamily="34" charset="-122"/>
                <a:cs typeface="Cambria" pitchFamily="34" charset="-120"/>
              </a:rPr>
              <a:t>“Intent routing tốt chưa đủ; câu trả lời phải đúng ý định, đúng vai và truy ngược được về nguồn.”</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2026-09-18T04:05:11Z</dcterms:created>
  <dcterms:modified xsi:type="dcterms:W3CDTF">2026-09-18T04:05:11Z</dcterms:modified>
</cp:coreProperties>
</file>